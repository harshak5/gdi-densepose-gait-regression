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Shape 1"/>
          <p:cNvSpPr/>
          <p:nvPr/>
        </p:nvSpPr>
        <p:spPr>
          <a:xfrm>
            <a:off x="0" y="4160520"/>
            <a:ext cx="9144000" cy="987552"/>
          </a:xfrm>
          <a:prstGeom prst="rect">
            <a:avLst/>
          </a:prstGeom>
          <a:solidFill>
            <a:srgbClr val="1B2A4A"/>
          </a:solidFill>
          <a:ln/>
        </p:spPr>
      </p:sp>
      <p:sp>
        <p:nvSpPr>
          <p:cNvPr id="4" name="Text 2"/>
          <p:cNvSpPr/>
          <p:nvPr/>
        </p:nvSpPr>
        <p:spPr>
          <a:xfrm>
            <a:off x="457200" y="1005840"/>
            <a:ext cx="8229600" cy="502920"/>
          </a:xfrm>
          <a:prstGeom prst="rect">
            <a:avLst/>
          </a:prstGeom>
          <a:noFill/>
          <a:ln/>
        </p:spPr>
        <p:txBody>
          <a:bodyPr wrap="square" rtlCol="0" anchor="ctr"/>
          <a:lstStyle/>
          <a:p>
            <a:pPr indent="0" marL="0">
              <a:buNone/>
            </a:pPr>
            <a:r>
              <a:rPr lang="en-US" sz="2600" b="1" dirty="0">
                <a:solidFill>
                  <a:srgbClr val="FFFFFF"/>
                </a:solidFill>
                <a:latin typeface="Century Gothic" pitchFamily="34" charset="0"/>
                <a:ea typeface="Century Gothic" pitchFamily="34" charset="-122"/>
                <a:cs typeface="Century Gothic" pitchFamily="34" charset="-120"/>
              </a:rPr>
              <a:t>Automated Identification of Gait Abnormalities</a:t>
            </a:r>
            <a:endParaRPr lang="en-US" sz="2600" dirty="0"/>
          </a:p>
        </p:txBody>
      </p:sp>
      <p:sp>
        <p:nvSpPr>
          <p:cNvPr id="5" name="Text 3"/>
          <p:cNvSpPr/>
          <p:nvPr/>
        </p:nvSpPr>
        <p:spPr>
          <a:xfrm>
            <a:off x="457200" y="1645920"/>
            <a:ext cx="8229600" cy="365760"/>
          </a:xfrm>
          <a:prstGeom prst="rect">
            <a:avLst/>
          </a:prstGeom>
          <a:noFill/>
          <a:ln/>
        </p:spPr>
        <p:txBody>
          <a:bodyPr wrap="square" rtlCol="0" anchor="ctr"/>
          <a:lstStyle/>
          <a:p>
            <a:pPr indent="0" marL="0">
              <a:buNone/>
            </a:pPr>
            <a:r>
              <a:rPr lang="en-US" sz="1600" dirty="0">
                <a:solidFill>
                  <a:srgbClr val="D4A843"/>
                </a:solidFill>
                <a:latin typeface="Calibri" pitchFamily="34" charset="0"/>
                <a:ea typeface="Calibri" pitchFamily="34" charset="-122"/>
                <a:cs typeface="Calibri" pitchFamily="34" charset="-120"/>
              </a:rPr>
              <a:t>Predicting Gait Deviation Index (GDI) from DensePose IUV Sequences</a:t>
            </a:r>
            <a:endParaRPr lang="en-US" sz="1600" dirty="0"/>
          </a:p>
        </p:txBody>
      </p:sp>
      <p:sp>
        <p:nvSpPr>
          <p:cNvPr id="6" name="Text 4"/>
          <p:cNvSpPr/>
          <p:nvPr/>
        </p:nvSpPr>
        <p:spPr>
          <a:xfrm>
            <a:off x="457200" y="2194560"/>
            <a:ext cx="8229600" cy="548640"/>
          </a:xfrm>
          <a:prstGeom prst="rect">
            <a:avLst/>
          </a:prstGeom>
          <a:noFill/>
          <a:ln/>
        </p:spPr>
        <p:txBody>
          <a:bodyPr wrap="square" rtlCol="0" anchor="ctr"/>
          <a:lstStyle/>
          <a:p>
            <a:pPr indent="0" marL="0">
              <a:buNone/>
            </a:pPr>
            <a:r>
              <a:rPr lang="en-US" sz="1400" dirty="0">
                <a:solidFill>
                  <a:srgbClr val="E8E4DD"/>
                </a:solidFill>
                <a:latin typeface="Calibri" pitchFamily="34" charset="0"/>
                <a:ea typeface="Calibri" pitchFamily="34" charset="-122"/>
                <a:cs typeface="Calibri" pitchFamily="34" charset="-120"/>
              </a:rPr>
              <a:t>Re-implementation and improvement of Gotlin, Pancholi &amp; Agarwal (CS229 / Paper 31)</a:t>
            </a:r>
            <a:endParaRPr lang="en-US" sz="1400" dirty="0"/>
          </a:p>
          <a:p>
            <a:pPr indent="0" marL="0">
              <a:buNone/>
            </a:pPr>
            <a:r>
              <a:rPr lang="en-US" sz="1400" dirty="0">
                <a:solidFill>
                  <a:srgbClr val="E8E4DD"/>
                </a:solidFill>
                <a:latin typeface="Calibri" pitchFamily="34" charset="0"/>
                <a:ea typeface="Calibri" pitchFamily="34" charset="-122"/>
                <a:cs typeface="Calibri" pitchFamily="34" charset="-120"/>
              </a:rPr>
              <a:t>Data: github.com/agotlin/CS229DP</a:t>
            </a:r>
            <a:endParaRPr lang="en-US" sz="1400" dirty="0"/>
          </a:p>
        </p:txBody>
      </p:sp>
      <p:sp>
        <p:nvSpPr>
          <p:cNvPr id="7" name="Text 5"/>
          <p:cNvSpPr/>
          <p:nvPr/>
        </p:nvSpPr>
        <p:spPr>
          <a:xfrm>
            <a:off x="457200" y="4434840"/>
            <a:ext cx="8229600" cy="32004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UE24CS352A  ·  Machine Learning Mini-Project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Agenda</a:t>
            </a:r>
            <a:endParaRPr lang="en-US" sz="2000" dirty="0"/>
          </a:p>
        </p:txBody>
      </p:sp>
      <p:sp>
        <p:nvSpPr>
          <p:cNvPr id="4" name="Text 2"/>
          <p:cNvSpPr/>
          <p:nvPr/>
        </p:nvSpPr>
        <p:spPr>
          <a:xfrm>
            <a:off x="457200" y="68580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1. Motivation &amp; clinical background</a:t>
            </a:r>
            <a:endParaRPr lang="en-US" sz="1400" dirty="0"/>
          </a:p>
        </p:txBody>
      </p:sp>
      <p:sp>
        <p:nvSpPr>
          <p:cNvPr id="5" name="Text 3"/>
          <p:cNvSpPr/>
          <p:nvPr/>
        </p:nvSpPr>
        <p:spPr>
          <a:xfrm>
            <a:off x="457200" y="132588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2. What is GDI? Why predict it from video?</a:t>
            </a:r>
            <a:endParaRPr lang="en-US" sz="1400" dirty="0"/>
          </a:p>
        </p:txBody>
      </p:sp>
      <p:sp>
        <p:nvSpPr>
          <p:cNvPr id="6" name="Text 4"/>
          <p:cNvSpPr/>
          <p:nvPr/>
        </p:nvSpPr>
        <p:spPr>
          <a:xfrm>
            <a:off x="457200" y="196596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3. Paper 31 (Gotlin et al.) — what they did</a:t>
            </a:r>
            <a:endParaRPr lang="en-US" sz="1400" dirty="0"/>
          </a:p>
        </p:txBody>
      </p:sp>
      <p:sp>
        <p:nvSpPr>
          <p:cNvPr id="7" name="Text 5"/>
          <p:cNvSpPr/>
          <p:nvPr/>
        </p:nvSpPr>
        <p:spPr>
          <a:xfrm>
            <a:off x="457200" y="260604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4. Dataset (CS229DP DensePose IUV + GDI)</a:t>
            </a:r>
            <a:endParaRPr lang="en-US" sz="1400" dirty="0"/>
          </a:p>
        </p:txBody>
      </p:sp>
      <p:sp>
        <p:nvSpPr>
          <p:cNvPr id="8" name="Text 6"/>
          <p:cNvSpPr/>
          <p:nvPr/>
        </p:nvSpPr>
        <p:spPr>
          <a:xfrm>
            <a:off x="457200" y="324612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5. Our pipeline &amp; patient-disjoint evaluation</a:t>
            </a:r>
            <a:endParaRPr lang="en-US" sz="1400" dirty="0"/>
          </a:p>
        </p:txBody>
      </p:sp>
      <p:sp>
        <p:nvSpPr>
          <p:cNvPr id="9" name="Text 7"/>
          <p:cNvSpPr/>
          <p:nvPr/>
        </p:nvSpPr>
        <p:spPr>
          <a:xfrm>
            <a:off x="4754880" y="68580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6. Models: baselines → CNN–LSTM → attention → multi-task</a:t>
            </a:r>
            <a:endParaRPr lang="en-US" sz="1400" dirty="0"/>
          </a:p>
        </p:txBody>
      </p:sp>
      <p:sp>
        <p:nvSpPr>
          <p:cNvPr id="10" name="Text 8"/>
          <p:cNvSpPr/>
          <p:nvPr/>
        </p:nvSpPr>
        <p:spPr>
          <a:xfrm>
            <a:off x="4754880" y="132588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7. Training setup &amp; metrics</a:t>
            </a:r>
            <a:endParaRPr lang="en-US" sz="1400" dirty="0"/>
          </a:p>
        </p:txBody>
      </p:sp>
      <p:sp>
        <p:nvSpPr>
          <p:cNvPr id="11" name="Text 9"/>
          <p:cNvSpPr/>
          <p:nvPr/>
        </p:nvSpPr>
        <p:spPr>
          <a:xfrm>
            <a:off x="4754880" y="196596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8. Results (to fill after runs)</a:t>
            </a:r>
            <a:endParaRPr lang="en-US" sz="1400" dirty="0"/>
          </a:p>
        </p:txBody>
      </p:sp>
      <p:sp>
        <p:nvSpPr>
          <p:cNvPr id="12" name="Text 10"/>
          <p:cNvSpPr/>
          <p:nvPr/>
        </p:nvSpPr>
        <p:spPr>
          <a:xfrm>
            <a:off x="4754880" y="260604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9. Improvements vs the paper</a:t>
            </a:r>
            <a:endParaRPr lang="en-US" sz="1400" dirty="0"/>
          </a:p>
        </p:txBody>
      </p:sp>
      <p:sp>
        <p:nvSpPr>
          <p:cNvPr id="13" name="Text 11"/>
          <p:cNvSpPr/>
          <p:nvPr/>
        </p:nvSpPr>
        <p:spPr>
          <a:xfrm>
            <a:off x="4754880" y="3246120"/>
            <a:ext cx="4114800" cy="5029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10. Limitations &amp; 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INTRODUCTION</a:t>
            </a:r>
            <a:endParaRPr lang="en-US" sz="2000" dirty="0"/>
          </a:p>
        </p:txBody>
      </p:sp>
      <p:pic>
        <p:nvPicPr>
          <p:cNvPr id="4" name="Image 0" descr="/home/workdir/artifacts/ppt_imgs/image1.jpg">    </p:cNvPr>
          <p:cNvPicPr>
            <a:picLocks noChangeAspect="1"/>
          </p:cNvPicPr>
          <p:nvPr/>
        </p:nvPicPr>
        <p:blipFill>
          <a:blip r:embed="rId1"/>
          <a:stretch>
            <a:fillRect/>
          </a:stretch>
        </p:blipFill>
        <p:spPr>
          <a:xfrm>
            <a:off x="6583680" y="777240"/>
            <a:ext cx="2194560" cy="2194560"/>
          </a:xfrm>
          <a:prstGeom prst="rect">
            <a:avLst/>
          </a:prstGeom>
        </p:spPr>
      </p:pic>
      <p:sp>
        <p:nvSpPr>
          <p:cNvPr id="5" name="Shape 2"/>
          <p:cNvSpPr/>
          <p:nvPr/>
        </p:nvSpPr>
        <p:spPr>
          <a:xfrm>
            <a:off x="365760" y="640080"/>
            <a:ext cx="5943600" cy="822960"/>
          </a:xfrm>
          <a:prstGeom prst="roundRect">
            <a:avLst>
              <a:gd name="adj" fmla="val 5556"/>
            </a:avLst>
          </a:prstGeom>
          <a:solidFill>
            <a:srgbClr val="FFFFFF"/>
          </a:solidFill>
          <a:ln w="12700">
            <a:solidFill>
              <a:srgbClr val="E8E4DD"/>
            </a:solidFill>
            <a:prstDash val="solid"/>
          </a:ln>
        </p:spPr>
      </p:sp>
      <p:sp>
        <p:nvSpPr>
          <p:cNvPr id="6" name="Shape 3"/>
          <p:cNvSpPr/>
          <p:nvPr/>
        </p:nvSpPr>
        <p:spPr>
          <a:xfrm>
            <a:off x="365760" y="640080"/>
            <a:ext cx="91440" cy="822960"/>
          </a:xfrm>
          <a:prstGeom prst="rect">
            <a:avLst/>
          </a:prstGeom>
          <a:solidFill>
            <a:srgbClr val="0E7C86"/>
          </a:solidFill>
          <a:ln/>
        </p:spPr>
      </p:sp>
      <p:sp>
        <p:nvSpPr>
          <p:cNvPr id="7" name="Text 4"/>
          <p:cNvSpPr/>
          <p:nvPr/>
        </p:nvSpPr>
        <p:spPr>
          <a:xfrm>
            <a:off x="640080" y="731520"/>
            <a:ext cx="548640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Gait</a:t>
            </a:r>
            <a:endParaRPr lang="en-US" sz="1400" dirty="0"/>
          </a:p>
        </p:txBody>
      </p:sp>
      <p:sp>
        <p:nvSpPr>
          <p:cNvPr id="8" name="Text 5"/>
          <p:cNvSpPr/>
          <p:nvPr/>
        </p:nvSpPr>
        <p:spPr>
          <a:xfrm>
            <a:off x="640080" y="1024128"/>
            <a:ext cx="5486400" cy="36576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The pattern of walking: step timing, speed, balance, and how joints move over time.</a:t>
            </a:r>
            <a:endParaRPr lang="en-US" sz="1200" dirty="0"/>
          </a:p>
        </p:txBody>
      </p:sp>
      <p:sp>
        <p:nvSpPr>
          <p:cNvPr id="9" name="Shape 6"/>
          <p:cNvSpPr/>
          <p:nvPr/>
        </p:nvSpPr>
        <p:spPr>
          <a:xfrm>
            <a:off x="365760" y="1554480"/>
            <a:ext cx="5943600" cy="822960"/>
          </a:xfrm>
          <a:prstGeom prst="roundRect">
            <a:avLst>
              <a:gd name="adj" fmla="val 5556"/>
            </a:avLst>
          </a:prstGeom>
          <a:solidFill>
            <a:srgbClr val="FFFFFF"/>
          </a:solidFill>
          <a:ln w="12700">
            <a:solidFill>
              <a:srgbClr val="E8E4DD"/>
            </a:solidFill>
            <a:prstDash val="solid"/>
          </a:ln>
        </p:spPr>
      </p:sp>
      <p:sp>
        <p:nvSpPr>
          <p:cNvPr id="10" name="Shape 7"/>
          <p:cNvSpPr/>
          <p:nvPr/>
        </p:nvSpPr>
        <p:spPr>
          <a:xfrm>
            <a:off x="365760" y="1554480"/>
            <a:ext cx="91440" cy="822960"/>
          </a:xfrm>
          <a:prstGeom prst="rect">
            <a:avLst/>
          </a:prstGeom>
          <a:solidFill>
            <a:srgbClr val="0E7C86"/>
          </a:solidFill>
          <a:ln/>
        </p:spPr>
      </p:sp>
      <p:sp>
        <p:nvSpPr>
          <p:cNvPr id="11" name="Text 8"/>
          <p:cNvSpPr/>
          <p:nvPr/>
        </p:nvSpPr>
        <p:spPr>
          <a:xfrm>
            <a:off x="640080" y="1645920"/>
            <a:ext cx="548640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Clinical problem</a:t>
            </a:r>
            <a:endParaRPr lang="en-US" sz="1400" dirty="0"/>
          </a:p>
        </p:txBody>
      </p:sp>
      <p:sp>
        <p:nvSpPr>
          <p:cNvPr id="12" name="Text 9"/>
          <p:cNvSpPr/>
          <p:nvPr/>
        </p:nvSpPr>
        <p:spPr>
          <a:xfrm>
            <a:off x="640080" y="1938528"/>
            <a:ext cx="5486400" cy="36576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Neurological disease changes gait. Marker-based labs are accurate but costly and slow.</a:t>
            </a:r>
            <a:endParaRPr lang="en-US" sz="1200" dirty="0"/>
          </a:p>
        </p:txBody>
      </p:sp>
      <p:sp>
        <p:nvSpPr>
          <p:cNvPr id="13" name="Shape 10"/>
          <p:cNvSpPr/>
          <p:nvPr/>
        </p:nvSpPr>
        <p:spPr>
          <a:xfrm>
            <a:off x="365760" y="2468880"/>
            <a:ext cx="5943600" cy="822960"/>
          </a:xfrm>
          <a:prstGeom prst="roundRect">
            <a:avLst>
              <a:gd name="adj" fmla="val 5556"/>
            </a:avLst>
          </a:prstGeom>
          <a:solidFill>
            <a:srgbClr val="FFFFFF"/>
          </a:solidFill>
          <a:ln w="12700">
            <a:solidFill>
              <a:srgbClr val="E8E4DD"/>
            </a:solidFill>
            <a:prstDash val="solid"/>
          </a:ln>
        </p:spPr>
      </p:sp>
      <p:sp>
        <p:nvSpPr>
          <p:cNvPr id="14" name="Shape 11"/>
          <p:cNvSpPr/>
          <p:nvPr/>
        </p:nvSpPr>
        <p:spPr>
          <a:xfrm>
            <a:off x="365760" y="2468880"/>
            <a:ext cx="91440" cy="822960"/>
          </a:xfrm>
          <a:prstGeom prst="rect">
            <a:avLst/>
          </a:prstGeom>
          <a:solidFill>
            <a:srgbClr val="0E7C86"/>
          </a:solidFill>
          <a:ln/>
        </p:spPr>
      </p:sp>
      <p:sp>
        <p:nvSpPr>
          <p:cNvPr id="15" name="Text 12"/>
          <p:cNvSpPr/>
          <p:nvPr/>
        </p:nvSpPr>
        <p:spPr>
          <a:xfrm>
            <a:off x="640080" y="2560320"/>
            <a:ext cx="548640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Video opportunity</a:t>
            </a:r>
            <a:endParaRPr lang="en-US" sz="1400" dirty="0"/>
          </a:p>
        </p:txBody>
      </p:sp>
      <p:sp>
        <p:nvSpPr>
          <p:cNvPr id="16" name="Text 13"/>
          <p:cNvSpPr/>
          <p:nvPr/>
        </p:nvSpPr>
        <p:spPr>
          <a:xfrm>
            <a:off x="640080" y="2852928"/>
            <a:ext cx="5486400" cy="36576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If pose can be estimated from ordinary video, we can support cheaper, scalable assessment.</a:t>
            </a:r>
            <a:endParaRPr lang="en-US" sz="1200" dirty="0"/>
          </a:p>
        </p:txBody>
      </p:sp>
      <p:sp>
        <p:nvSpPr>
          <p:cNvPr id="17" name="Shape 14"/>
          <p:cNvSpPr/>
          <p:nvPr/>
        </p:nvSpPr>
        <p:spPr>
          <a:xfrm>
            <a:off x="365760" y="3383280"/>
            <a:ext cx="5943600" cy="822960"/>
          </a:xfrm>
          <a:prstGeom prst="roundRect">
            <a:avLst>
              <a:gd name="adj" fmla="val 5556"/>
            </a:avLst>
          </a:prstGeom>
          <a:solidFill>
            <a:srgbClr val="FFFFFF"/>
          </a:solidFill>
          <a:ln w="12700">
            <a:solidFill>
              <a:srgbClr val="E8E4DD"/>
            </a:solidFill>
            <a:prstDash val="solid"/>
          </a:ln>
        </p:spPr>
      </p:sp>
      <p:sp>
        <p:nvSpPr>
          <p:cNvPr id="18" name="Shape 15"/>
          <p:cNvSpPr/>
          <p:nvPr/>
        </p:nvSpPr>
        <p:spPr>
          <a:xfrm>
            <a:off x="365760" y="3383280"/>
            <a:ext cx="91440" cy="822960"/>
          </a:xfrm>
          <a:prstGeom prst="rect">
            <a:avLst/>
          </a:prstGeom>
          <a:solidFill>
            <a:srgbClr val="0E7C86"/>
          </a:solidFill>
          <a:ln/>
        </p:spPr>
      </p:sp>
      <p:sp>
        <p:nvSpPr>
          <p:cNvPr id="19" name="Text 16"/>
          <p:cNvSpPr/>
          <p:nvPr/>
        </p:nvSpPr>
        <p:spPr>
          <a:xfrm>
            <a:off x="640080" y="3474720"/>
            <a:ext cx="548640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This project</a:t>
            </a:r>
            <a:endParaRPr lang="en-US" sz="1400" dirty="0"/>
          </a:p>
        </p:txBody>
      </p:sp>
      <p:sp>
        <p:nvSpPr>
          <p:cNvPr id="20" name="Text 17"/>
          <p:cNvSpPr/>
          <p:nvPr/>
        </p:nvSpPr>
        <p:spPr>
          <a:xfrm>
            <a:off x="640080" y="3767328"/>
            <a:ext cx="5486400" cy="36576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Predict a continuous clinical score (GDI) from DensePose body-surface maps, then improve the original CS229 design.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What is the Gait Deviation Index (GDI)?</a:t>
            </a:r>
            <a:endParaRPr lang="en-US" sz="2000" dirty="0"/>
          </a:p>
        </p:txBody>
      </p:sp>
      <p:sp>
        <p:nvSpPr>
          <p:cNvPr id="4" name="Shape 2"/>
          <p:cNvSpPr/>
          <p:nvPr/>
        </p:nvSpPr>
        <p:spPr>
          <a:xfrm>
            <a:off x="365760" y="685800"/>
            <a:ext cx="8412480" cy="1371600"/>
          </a:xfrm>
          <a:prstGeom prst="roundRect">
            <a:avLst>
              <a:gd name="adj" fmla="val 3333"/>
            </a:avLst>
          </a:prstGeom>
          <a:solidFill>
            <a:srgbClr val="E6F4F5"/>
          </a:solidFill>
          <a:ln w="12700">
            <a:solidFill>
              <a:srgbClr val="E8E4DD"/>
            </a:solidFill>
            <a:prstDash val="solid"/>
          </a:ln>
        </p:spPr>
      </p:sp>
      <p:sp>
        <p:nvSpPr>
          <p:cNvPr id="5" name="Text 3"/>
          <p:cNvSpPr/>
          <p:nvPr/>
        </p:nvSpPr>
        <p:spPr>
          <a:xfrm>
            <a:off x="548640" y="868680"/>
            <a:ext cx="8046720" cy="105156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GDI is a single number that summarises how much a patient’s kinematics deviate from a typical able-bodied gait pattern. Higher values are closer to typical gait; lower values indicate greater abnormality. It is widely used in clinical gait laboratories.</a:t>
            </a:r>
            <a:endParaRPr lang="en-US" sz="1400" dirty="0"/>
          </a:p>
        </p:txBody>
      </p:sp>
      <p:sp>
        <p:nvSpPr>
          <p:cNvPr id="6" name="Shape 4"/>
          <p:cNvSpPr/>
          <p:nvPr/>
        </p:nvSpPr>
        <p:spPr>
          <a:xfrm>
            <a:off x="365760" y="2286000"/>
            <a:ext cx="2743200" cy="2103120"/>
          </a:xfrm>
          <a:prstGeom prst="roundRect">
            <a:avLst>
              <a:gd name="adj" fmla="val 2174"/>
            </a:avLst>
          </a:prstGeom>
          <a:solidFill>
            <a:srgbClr val="FFFFFF"/>
          </a:solidFill>
          <a:ln w="12700">
            <a:solidFill>
              <a:srgbClr val="E8E4DD"/>
            </a:solidFill>
            <a:prstDash val="solid"/>
          </a:ln>
        </p:spPr>
      </p:sp>
      <p:sp>
        <p:nvSpPr>
          <p:cNvPr id="7" name="Text 5"/>
          <p:cNvSpPr/>
          <p:nvPr/>
        </p:nvSpPr>
        <p:spPr>
          <a:xfrm>
            <a:off x="502920" y="2468880"/>
            <a:ext cx="2468880" cy="365760"/>
          </a:xfrm>
          <a:prstGeom prst="rect">
            <a:avLst/>
          </a:prstGeom>
          <a:noFill/>
          <a:ln/>
        </p:spPr>
        <p:txBody>
          <a:bodyPr wrap="square" rtlCol="0" anchor="ctr"/>
          <a:lstStyle/>
          <a:p>
            <a:pPr indent="0" marL="0">
              <a:buNone/>
            </a:pPr>
            <a:r>
              <a:rPr lang="en-US" sz="1400" b="1" dirty="0">
                <a:solidFill>
                  <a:srgbClr val="0E7C86"/>
                </a:solidFill>
                <a:latin typeface="Century Gothic" pitchFamily="34" charset="0"/>
                <a:ea typeface="Century Gothic" pitchFamily="34" charset="-122"/>
                <a:cs typeface="Century Gothic" pitchFamily="34" charset="-120"/>
              </a:rPr>
              <a:t>Typical range</a:t>
            </a:r>
            <a:endParaRPr lang="en-US" sz="1400" dirty="0"/>
          </a:p>
        </p:txBody>
      </p:sp>
      <p:sp>
        <p:nvSpPr>
          <p:cNvPr id="8" name="Text 6"/>
          <p:cNvSpPr/>
          <p:nvPr/>
        </p:nvSpPr>
        <p:spPr>
          <a:xfrm>
            <a:off x="502920" y="2971800"/>
            <a:ext cx="2468880" cy="11887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Often scaled so ~100 ≈ average typical gait; many patients score lower.</a:t>
            </a:r>
            <a:endParaRPr lang="en-US" sz="1300" dirty="0"/>
          </a:p>
        </p:txBody>
      </p:sp>
      <p:sp>
        <p:nvSpPr>
          <p:cNvPr id="9" name="Shape 7"/>
          <p:cNvSpPr/>
          <p:nvPr/>
        </p:nvSpPr>
        <p:spPr>
          <a:xfrm>
            <a:off x="3246120" y="2286000"/>
            <a:ext cx="2743200" cy="2103120"/>
          </a:xfrm>
          <a:prstGeom prst="roundRect">
            <a:avLst>
              <a:gd name="adj" fmla="val 2174"/>
            </a:avLst>
          </a:prstGeom>
          <a:solidFill>
            <a:srgbClr val="FFFFFF"/>
          </a:solidFill>
          <a:ln w="12700">
            <a:solidFill>
              <a:srgbClr val="E8E4DD"/>
            </a:solidFill>
            <a:prstDash val="solid"/>
          </a:ln>
        </p:spPr>
      </p:sp>
      <p:sp>
        <p:nvSpPr>
          <p:cNvPr id="10" name="Text 8"/>
          <p:cNvSpPr/>
          <p:nvPr/>
        </p:nvSpPr>
        <p:spPr>
          <a:xfrm>
            <a:off x="3383280" y="2468880"/>
            <a:ext cx="2468880" cy="365760"/>
          </a:xfrm>
          <a:prstGeom prst="rect">
            <a:avLst/>
          </a:prstGeom>
          <a:noFill/>
          <a:ln/>
        </p:spPr>
        <p:txBody>
          <a:bodyPr wrap="square" rtlCol="0" anchor="ctr"/>
          <a:lstStyle/>
          <a:p>
            <a:pPr indent="0" marL="0">
              <a:buNone/>
            </a:pPr>
            <a:r>
              <a:rPr lang="en-US" sz="1400" b="1" dirty="0">
                <a:solidFill>
                  <a:srgbClr val="0E7C86"/>
                </a:solidFill>
                <a:latin typeface="Century Gothic" pitchFamily="34" charset="0"/>
                <a:ea typeface="Century Gothic" pitchFamily="34" charset="-122"/>
                <a:cs typeface="Century Gothic" pitchFamily="34" charset="-120"/>
              </a:rPr>
              <a:t>Why ML?</a:t>
            </a:r>
            <a:endParaRPr lang="en-US" sz="1400" dirty="0"/>
          </a:p>
        </p:txBody>
      </p:sp>
      <p:sp>
        <p:nvSpPr>
          <p:cNvPr id="11" name="Text 9"/>
          <p:cNvSpPr/>
          <p:nvPr/>
        </p:nvSpPr>
        <p:spPr>
          <a:xfrm>
            <a:off x="3383280" y="2971800"/>
            <a:ext cx="2468880" cy="11887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Computing GDI normally needs full 3D motion capture. Predicting it from video pose could reduce cost.</a:t>
            </a:r>
            <a:endParaRPr lang="en-US" sz="1300" dirty="0"/>
          </a:p>
        </p:txBody>
      </p:sp>
      <p:sp>
        <p:nvSpPr>
          <p:cNvPr id="12" name="Shape 10"/>
          <p:cNvSpPr/>
          <p:nvPr/>
        </p:nvSpPr>
        <p:spPr>
          <a:xfrm>
            <a:off x="6126480" y="2286000"/>
            <a:ext cx="2743200" cy="2103120"/>
          </a:xfrm>
          <a:prstGeom prst="roundRect">
            <a:avLst>
              <a:gd name="adj" fmla="val 2174"/>
            </a:avLst>
          </a:prstGeom>
          <a:solidFill>
            <a:srgbClr val="FFFFFF"/>
          </a:solidFill>
          <a:ln w="12700">
            <a:solidFill>
              <a:srgbClr val="E8E4DD"/>
            </a:solidFill>
            <a:prstDash val="solid"/>
          </a:ln>
        </p:spPr>
      </p:sp>
      <p:sp>
        <p:nvSpPr>
          <p:cNvPr id="13" name="Text 11"/>
          <p:cNvSpPr/>
          <p:nvPr/>
        </p:nvSpPr>
        <p:spPr>
          <a:xfrm>
            <a:off x="6263640" y="2468880"/>
            <a:ext cx="2468880" cy="365760"/>
          </a:xfrm>
          <a:prstGeom prst="rect">
            <a:avLst/>
          </a:prstGeom>
          <a:noFill/>
          <a:ln/>
        </p:spPr>
        <p:txBody>
          <a:bodyPr wrap="square" rtlCol="0" anchor="ctr"/>
          <a:lstStyle/>
          <a:p>
            <a:pPr indent="0" marL="0">
              <a:buNone/>
            </a:pPr>
            <a:r>
              <a:rPr lang="en-US" sz="1400" b="1" dirty="0">
                <a:solidFill>
                  <a:srgbClr val="0E7C86"/>
                </a:solidFill>
                <a:latin typeface="Century Gothic" pitchFamily="34" charset="0"/>
                <a:ea typeface="Century Gothic" pitchFamily="34" charset="-122"/>
                <a:cs typeface="Century Gothic" pitchFamily="34" charset="-120"/>
              </a:rPr>
              <a:t>Our target</a:t>
            </a:r>
            <a:endParaRPr lang="en-US" sz="1400" dirty="0"/>
          </a:p>
        </p:txBody>
      </p:sp>
      <p:sp>
        <p:nvSpPr>
          <p:cNvPr id="14" name="Text 12"/>
          <p:cNvSpPr/>
          <p:nvPr/>
        </p:nvSpPr>
        <p:spPr>
          <a:xfrm>
            <a:off x="6263640" y="2971800"/>
            <a:ext cx="2468880" cy="11887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Regression: predict continuous GDI from a short sequence of DensePose IUV frames. Metric = RMSE.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20040"/>
          </a:xfrm>
          <a:prstGeom prst="rect">
            <a:avLst/>
          </a:prstGeom>
          <a:noFill/>
          <a:ln/>
        </p:spPr>
        <p:txBody>
          <a:bodyPr wrap="square" rtlCol="0" anchor="ctr"/>
          <a:lstStyle/>
          <a:p>
            <a:pPr indent="0" marL="0">
              <a:buNone/>
            </a:pPr>
            <a:r>
              <a:rPr lang="en-US" sz="1800" b="1" dirty="0">
                <a:solidFill>
                  <a:srgbClr val="1B2A4A"/>
                </a:solidFill>
                <a:latin typeface="Century Gothic" pitchFamily="34" charset="0"/>
                <a:ea typeface="Century Gothic" pitchFamily="34" charset="-122"/>
                <a:cs typeface="Century Gothic" pitchFamily="34" charset="-120"/>
              </a:rPr>
              <a:t>Diseases and Their Gait Characteristics</a:t>
            </a:r>
            <a:endParaRPr lang="en-US" sz="1800" dirty="0"/>
          </a:p>
        </p:txBody>
      </p:sp>
      <p:sp>
        <p:nvSpPr>
          <p:cNvPr id="4" name="Text 2"/>
          <p:cNvSpPr/>
          <p:nvPr/>
        </p:nvSpPr>
        <p:spPr>
          <a:xfrm>
            <a:off x="457200" y="475488"/>
            <a:ext cx="8229600" cy="256032"/>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Many conditions lower GDI. Paper 31 predicts the score, not the disease name.</a:t>
            </a:r>
            <a:endParaRPr lang="en-US" sz="1200" dirty="0"/>
          </a:p>
        </p:txBody>
      </p:sp>
      <p:sp>
        <p:nvSpPr>
          <p:cNvPr id="5" name="Shape 3"/>
          <p:cNvSpPr/>
          <p:nvPr/>
        </p:nvSpPr>
        <p:spPr>
          <a:xfrm>
            <a:off x="274320" y="868680"/>
            <a:ext cx="2103120" cy="3566160"/>
          </a:xfrm>
          <a:prstGeom prst="roundRect">
            <a:avLst>
              <a:gd name="adj" fmla="val 2174"/>
            </a:avLst>
          </a:prstGeom>
          <a:solidFill>
            <a:srgbClr val="FFFFFF"/>
          </a:solidFill>
          <a:ln w="12700">
            <a:solidFill>
              <a:srgbClr val="E8E4DD"/>
            </a:solidFill>
            <a:prstDash val="solid"/>
          </a:ln>
        </p:spPr>
      </p:sp>
      <p:sp>
        <p:nvSpPr>
          <p:cNvPr id="6" name="Text 4"/>
          <p:cNvSpPr/>
          <p:nvPr/>
        </p:nvSpPr>
        <p:spPr>
          <a:xfrm>
            <a:off x="365760" y="960120"/>
            <a:ext cx="1920240" cy="411480"/>
          </a:xfrm>
          <a:prstGeom prst="rect">
            <a:avLst/>
          </a:prstGeom>
          <a:noFill/>
          <a:ln/>
        </p:spPr>
        <p:txBody>
          <a:bodyPr wrap="square" rtlCol="0" anchor="ctr"/>
          <a:lstStyle/>
          <a:p>
            <a:pPr algn="ctr" indent="0" marL="0">
              <a:buNone/>
            </a:pPr>
            <a:r>
              <a:rPr lang="en-US" sz="1200" b="1" dirty="0">
                <a:solidFill>
                  <a:srgbClr val="1B2A4A"/>
                </a:solidFill>
                <a:latin typeface="Century Gothic" pitchFamily="34" charset="0"/>
                <a:ea typeface="Century Gothic" pitchFamily="34" charset="-122"/>
                <a:cs typeface="Century Gothic" pitchFamily="34" charset="-120"/>
              </a:rPr>
              <a:t>Parkinson’s Disease</a:t>
            </a:r>
            <a:endParaRPr lang="en-US" sz="1200" dirty="0"/>
          </a:p>
        </p:txBody>
      </p:sp>
      <p:pic>
        <p:nvPicPr>
          <p:cNvPr id="7" name="Image 0" descr="/home/workdir/artifacts/ppt_imgs/image3.png">    </p:cNvPr>
          <p:cNvPicPr>
            <a:picLocks noChangeAspect="1"/>
          </p:cNvPicPr>
          <p:nvPr/>
        </p:nvPicPr>
        <p:blipFill>
          <a:blip r:embed="rId1"/>
          <a:stretch>
            <a:fillRect/>
          </a:stretch>
        </p:blipFill>
        <p:spPr>
          <a:xfrm>
            <a:off x="365760" y="1417320"/>
            <a:ext cx="1920240" cy="1645920"/>
          </a:xfrm>
          <a:prstGeom prst="rect">
            <a:avLst/>
          </a:prstGeom>
        </p:spPr>
      </p:pic>
      <p:sp>
        <p:nvSpPr>
          <p:cNvPr id="8" name="Text 5"/>
          <p:cNvSpPr/>
          <p:nvPr/>
        </p:nvSpPr>
        <p:spPr>
          <a:xfrm>
            <a:off x="365760" y="3200400"/>
            <a:ext cx="1920240" cy="105156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Shuffling, short steps, reduced arm swing, altered rhythm.</a:t>
            </a:r>
            <a:endParaRPr lang="en-US" sz="1100" dirty="0"/>
          </a:p>
        </p:txBody>
      </p:sp>
      <p:sp>
        <p:nvSpPr>
          <p:cNvPr id="9" name="Shape 6"/>
          <p:cNvSpPr/>
          <p:nvPr/>
        </p:nvSpPr>
        <p:spPr>
          <a:xfrm>
            <a:off x="2468880" y="868680"/>
            <a:ext cx="2103120" cy="3566160"/>
          </a:xfrm>
          <a:prstGeom prst="roundRect">
            <a:avLst>
              <a:gd name="adj" fmla="val 2174"/>
            </a:avLst>
          </a:prstGeom>
          <a:solidFill>
            <a:srgbClr val="FFFFFF"/>
          </a:solidFill>
          <a:ln w="12700">
            <a:solidFill>
              <a:srgbClr val="E8E4DD"/>
            </a:solidFill>
            <a:prstDash val="solid"/>
          </a:ln>
        </p:spPr>
      </p:sp>
      <p:sp>
        <p:nvSpPr>
          <p:cNvPr id="10" name="Text 7"/>
          <p:cNvSpPr/>
          <p:nvPr/>
        </p:nvSpPr>
        <p:spPr>
          <a:xfrm>
            <a:off x="2560320" y="960120"/>
            <a:ext cx="1920240" cy="411480"/>
          </a:xfrm>
          <a:prstGeom prst="rect">
            <a:avLst/>
          </a:prstGeom>
          <a:noFill/>
          <a:ln/>
        </p:spPr>
        <p:txBody>
          <a:bodyPr wrap="square" rtlCol="0" anchor="ctr"/>
          <a:lstStyle/>
          <a:p>
            <a:pPr algn="ctr" indent="0" marL="0">
              <a:buNone/>
            </a:pPr>
            <a:r>
              <a:rPr lang="en-US" sz="1200" b="1" dirty="0">
                <a:solidFill>
                  <a:srgbClr val="1B2A4A"/>
                </a:solidFill>
                <a:latin typeface="Century Gothic" pitchFamily="34" charset="0"/>
                <a:ea typeface="Century Gothic" pitchFamily="34" charset="-122"/>
                <a:cs typeface="Century Gothic" pitchFamily="34" charset="-120"/>
              </a:rPr>
              <a:t>ALS</a:t>
            </a:r>
            <a:endParaRPr lang="en-US" sz="1200" dirty="0"/>
          </a:p>
        </p:txBody>
      </p:sp>
      <p:pic>
        <p:nvPicPr>
          <p:cNvPr id="11" name="Image 1" descr="/home/workdir/artifacts/ppt_imgs/image4.png">    </p:cNvPr>
          <p:cNvPicPr>
            <a:picLocks noChangeAspect="1"/>
          </p:cNvPicPr>
          <p:nvPr/>
        </p:nvPicPr>
        <p:blipFill>
          <a:blip r:embed="rId2"/>
          <a:stretch>
            <a:fillRect/>
          </a:stretch>
        </p:blipFill>
        <p:spPr>
          <a:xfrm>
            <a:off x="2560320" y="1417320"/>
            <a:ext cx="1920240" cy="1645920"/>
          </a:xfrm>
          <a:prstGeom prst="rect">
            <a:avLst/>
          </a:prstGeom>
        </p:spPr>
      </p:pic>
      <p:sp>
        <p:nvSpPr>
          <p:cNvPr id="12" name="Text 8"/>
          <p:cNvSpPr/>
          <p:nvPr/>
        </p:nvSpPr>
        <p:spPr>
          <a:xfrm>
            <a:off x="2560320" y="3200400"/>
            <a:ext cx="1920240" cy="105156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Muscle weakness, uneven loading, prolonged stance phases.</a:t>
            </a:r>
            <a:endParaRPr lang="en-US" sz="1100" dirty="0"/>
          </a:p>
        </p:txBody>
      </p:sp>
      <p:sp>
        <p:nvSpPr>
          <p:cNvPr id="13" name="Shape 9"/>
          <p:cNvSpPr/>
          <p:nvPr/>
        </p:nvSpPr>
        <p:spPr>
          <a:xfrm>
            <a:off x="4663440" y="868680"/>
            <a:ext cx="2103120" cy="3566160"/>
          </a:xfrm>
          <a:prstGeom prst="roundRect">
            <a:avLst>
              <a:gd name="adj" fmla="val 2174"/>
            </a:avLst>
          </a:prstGeom>
          <a:solidFill>
            <a:srgbClr val="FFFFFF"/>
          </a:solidFill>
          <a:ln w="12700">
            <a:solidFill>
              <a:srgbClr val="E8E4DD"/>
            </a:solidFill>
            <a:prstDash val="solid"/>
          </a:ln>
        </p:spPr>
      </p:sp>
      <p:sp>
        <p:nvSpPr>
          <p:cNvPr id="14" name="Text 10"/>
          <p:cNvSpPr/>
          <p:nvPr/>
        </p:nvSpPr>
        <p:spPr>
          <a:xfrm>
            <a:off x="4754880" y="960120"/>
            <a:ext cx="1920240" cy="411480"/>
          </a:xfrm>
          <a:prstGeom prst="rect">
            <a:avLst/>
          </a:prstGeom>
          <a:noFill/>
          <a:ln/>
        </p:spPr>
        <p:txBody>
          <a:bodyPr wrap="square" rtlCol="0" anchor="ctr"/>
          <a:lstStyle/>
          <a:p>
            <a:pPr algn="ctr" indent="0" marL="0">
              <a:buNone/>
            </a:pPr>
            <a:r>
              <a:rPr lang="en-US" sz="1200" b="1" dirty="0">
                <a:solidFill>
                  <a:srgbClr val="1B2A4A"/>
                </a:solidFill>
                <a:latin typeface="Century Gothic" pitchFamily="34" charset="0"/>
                <a:ea typeface="Century Gothic" pitchFamily="34" charset="-122"/>
                <a:cs typeface="Century Gothic" pitchFamily="34" charset="-120"/>
              </a:rPr>
              <a:t>Huntington’s Disease</a:t>
            </a:r>
            <a:endParaRPr lang="en-US" sz="1200" dirty="0"/>
          </a:p>
        </p:txBody>
      </p:sp>
      <p:pic>
        <p:nvPicPr>
          <p:cNvPr id="15" name="Image 2" descr="/home/workdir/artifacts/ppt_imgs/image2.png">    </p:cNvPr>
          <p:cNvPicPr>
            <a:picLocks noChangeAspect="1"/>
          </p:cNvPicPr>
          <p:nvPr/>
        </p:nvPicPr>
        <p:blipFill>
          <a:blip r:embed="rId3"/>
          <a:stretch>
            <a:fillRect/>
          </a:stretch>
        </p:blipFill>
        <p:spPr>
          <a:xfrm>
            <a:off x="4754880" y="1417320"/>
            <a:ext cx="1920240" cy="1645920"/>
          </a:xfrm>
          <a:prstGeom prst="rect">
            <a:avLst/>
          </a:prstGeom>
        </p:spPr>
      </p:pic>
      <p:sp>
        <p:nvSpPr>
          <p:cNvPr id="16" name="Text 11"/>
          <p:cNvSpPr/>
          <p:nvPr/>
        </p:nvSpPr>
        <p:spPr>
          <a:xfrm>
            <a:off x="4754880" y="3200400"/>
            <a:ext cx="1920240" cy="105156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Irregular timing, large step-to-step variation.</a:t>
            </a:r>
            <a:endParaRPr lang="en-US" sz="1100" dirty="0"/>
          </a:p>
        </p:txBody>
      </p:sp>
      <p:sp>
        <p:nvSpPr>
          <p:cNvPr id="17" name="Shape 12"/>
          <p:cNvSpPr/>
          <p:nvPr/>
        </p:nvSpPr>
        <p:spPr>
          <a:xfrm>
            <a:off x="6858000" y="868680"/>
            <a:ext cx="2103120" cy="3566160"/>
          </a:xfrm>
          <a:prstGeom prst="roundRect">
            <a:avLst>
              <a:gd name="adj" fmla="val 2174"/>
            </a:avLst>
          </a:prstGeom>
          <a:solidFill>
            <a:srgbClr val="FFFFFF"/>
          </a:solidFill>
          <a:ln w="12700">
            <a:solidFill>
              <a:srgbClr val="E8E4DD"/>
            </a:solidFill>
            <a:prstDash val="solid"/>
          </a:ln>
        </p:spPr>
      </p:sp>
      <p:sp>
        <p:nvSpPr>
          <p:cNvPr id="18" name="Text 13"/>
          <p:cNvSpPr/>
          <p:nvPr/>
        </p:nvSpPr>
        <p:spPr>
          <a:xfrm>
            <a:off x="6949440" y="960120"/>
            <a:ext cx="1920240" cy="411480"/>
          </a:xfrm>
          <a:prstGeom prst="rect">
            <a:avLst/>
          </a:prstGeom>
          <a:noFill/>
          <a:ln/>
        </p:spPr>
        <p:txBody>
          <a:bodyPr wrap="square" rtlCol="0" anchor="ctr"/>
          <a:lstStyle/>
          <a:p>
            <a:pPr algn="ctr" indent="0" marL="0">
              <a:buNone/>
            </a:pPr>
            <a:r>
              <a:rPr lang="en-US" sz="1200" b="1" dirty="0">
                <a:solidFill>
                  <a:srgbClr val="1B2A4A"/>
                </a:solidFill>
                <a:latin typeface="Century Gothic" pitchFamily="34" charset="0"/>
                <a:ea typeface="Century Gothic" pitchFamily="34" charset="-122"/>
                <a:cs typeface="Century Gothic" pitchFamily="34" charset="-120"/>
              </a:rPr>
              <a:t>Typical reference</a:t>
            </a:r>
            <a:endParaRPr lang="en-US" sz="1200" dirty="0"/>
          </a:p>
        </p:txBody>
      </p:sp>
      <p:pic>
        <p:nvPicPr>
          <p:cNvPr id="19" name="Image 3" descr="/home/workdir/artifacts/ppt_imgs/image5.png">    </p:cNvPr>
          <p:cNvPicPr>
            <a:picLocks noChangeAspect="1"/>
          </p:cNvPicPr>
          <p:nvPr/>
        </p:nvPicPr>
        <p:blipFill>
          <a:blip r:embed="rId4"/>
          <a:stretch>
            <a:fillRect/>
          </a:stretch>
        </p:blipFill>
        <p:spPr>
          <a:xfrm>
            <a:off x="6949440" y="1417320"/>
            <a:ext cx="1920240" cy="1645920"/>
          </a:xfrm>
          <a:prstGeom prst="rect">
            <a:avLst/>
          </a:prstGeom>
        </p:spPr>
      </p:pic>
      <p:sp>
        <p:nvSpPr>
          <p:cNvPr id="20" name="Text 14"/>
          <p:cNvSpPr/>
          <p:nvPr/>
        </p:nvSpPr>
        <p:spPr>
          <a:xfrm>
            <a:off x="6949440" y="3200400"/>
            <a:ext cx="1920240" cy="105156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Regular timing, balanced left–right pattern (higher GDI).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Paper 31 — Gotlin et al. (CS229)</a:t>
            </a:r>
            <a:endParaRPr lang="en-US" sz="2000" dirty="0"/>
          </a:p>
        </p:txBody>
      </p:sp>
      <p:sp>
        <p:nvSpPr>
          <p:cNvPr id="4" name="Shape 2"/>
          <p:cNvSpPr/>
          <p:nvPr/>
        </p:nvSpPr>
        <p:spPr>
          <a:xfrm>
            <a:off x="365760" y="640080"/>
            <a:ext cx="8412480" cy="640080"/>
          </a:xfrm>
          <a:prstGeom prst="roundRect">
            <a:avLst>
              <a:gd name="adj" fmla="val 7143"/>
            </a:avLst>
          </a:prstGeom>
          <a:solidFill>
            <a:srgbClr val="FFFFFF"/>
          </a:solidFill>
          <a:ln w="12700">
            <a:solidFill>
              <a:srgbClr val="E8E4DD"/>
            </a:solidFill>
            <a:prstDash val="solid"/>
          </a:ln>
        </p:spPr>
      </p:sp>
      <p:sp>
        <p:nvSpPr>
          <p:cNvPr id="5" name="Text 3"/>
          <p:cNvSpPr/>
          <p:nvPr/>
        </p:nvSpPr>
        <p:spPr>
          <a:xfrm>
            <a:off x="502920" y="777240"/>
            <a:ext cx="1371600" cy="365760"/>
          </a:xfrm>
          <a:prstGeom prst="rect">
            <a:avLst/>
          </a:prstGeom>
          <a:noFill/>
          <a:ln/>
        </p:spPr>
        <p:txBody>
          <a:bodyPr wrap="square" rtlCol="0" anchor="ctr"/>
          <a:lstStyle/>
          <a:p>
            <a:pPr indent="0" marL="0">
              <a:buNone/>
            </a:pPr>
            <a:r>
              <a:rPr lang="en-US" sz="1300" b="1" dirty="0">
                <a:solidFill>
                  <a:srgbClr val="0E7C86"/>
                </a:solidFill>
                <a:latin typeface="Century Gothic" pitchFamily="34" charset="0"/>
                <a:ea typeface="Century Gothic" pitchFamily="34" charset="-122"/>
                <a:cs typeface="Century Gothic" pitchFamily="34" charset="-120"/>
              </a:rPr>
              <a:t>Data</a:t>
            </a:r>
            <a:endParaRPr lang="en-US" sz="1300" dirty="0"/>
          </a:p>
        </p:txBody>
      </p:sp>
      <p:sp>
        <p:nvSpPr>
          <p:cNvPr id="6" name="Text 4"/>
          <p:cNvSpPr/>
          <p:nvPr/>
        </p:nvSpPr>
        <p:spPr>
          <a:xfrm>
            <a:off x="2011680" y="749808"/>
            <a:ext cx="6583680" cy="4572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~3,000 clinical walking videos from Gillette Children’s gait lab, each with physician-derived GDI.</a:t>
            </a:r>
            <a:endParaRPr lang="en-US" sz="1300" dirty="0"/>
          </a:p>
        </p:txBody>
      </p:sp>
      <p:sp>
        <p:nvSpPr>
          <p:cNvPr id="7" name="Shape 5"/>
          <p:cNvSpPr/>
          <p:nvPr/>
        </p:nvSpPr>
        <p:spPr>
          <a:xfrm>
            <a:off x="365760" y="1325880"/>
            <a:ext cx="8412480" cy="640080"/>
          </a:xfrm>
          <a:prstGeom prst="roundRect">
            <a:avLst>
              <a:gd name="adj" fmla="val 7143"/>
            </a:avLst>
          </a:prstGeom>
          <a:solidFill>
            <a:srgbClr val="FFFFFF"/>
          </a:solidFill>
          <a:ln w="12700">
            <a:solidFill>
              <a:srgbClr val="E8E4DD"/>
            </a:solidFill>
            <a:prstDash val="solid"/>
          </a:ln>
        </p:spPr>
      </p:sp>
      <p:sp>
        <p:nvSpPr>
          <p:cNvPr id="8" name="Text 6"/>
          <p:cNvSpPr/>
          <p:nvPr/>
        </p:nvSpPr>
        <p:spPr>
          <a:xfrm>
            <a:off x="502920" y="1463040"/>
            <a:ext cx="1371600" cy="365760"/>
          </a:xfrm>
          <a:prstGeom prst="rect">
            <a:avLst/>
          </a:prstGeom>
          <a:noFill/>
          <a:ln/>
        </p:spPr>
        <p:txBody>
          <a:bodyPr wrap="square" rtlCol="0" anchor="ctr"/>
          <a:lstStyle/>
          <a:p>
            <a:pPr indent="0" marL="0">
              <a:buNone/>
            </a:pPr>
            <a:r>
              <a:rPr lang="en-US" sz="1300" b="1" dirty="0">
                <a:solidFill>
                  <a:srgbClr val="0E7C86"/>
                </a:solidFill>
                <a:latin typeface="Century Gothic" pitchFamily="34" charset="0"/>
                <a:ea typeface="Century Gothic" pitchFamily="34" charset="-122"/>
                <a:cs typeface="Century Gothic" pitchFamily="34" charset="-120"/>
              </a:rPr>
              <a:t>Pose</a:t>
            </a:r>
            <a:endParaRPr lang="en-US" sz="1300" dirty="0"/>
          </a:p>
        </p:txBody>
      </p:sp>
      <p:sp>
        <p:nvSpPr>
          <p:cNvPr id="9" name="Text 7"/>
          <p:cNvSpPr/>
          <p:nvPr/>
        </p:nvSpPr>
        <p:spPr>
          <a:xfrm>
            <a:off x="2011680" y="1435608"/>
            <a:ext cx="6583680" cy="4572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DensePose RCNN maps every person pixel to a 3D body surface → IUV images (Index, U, V channels).</a:t>
            </a:r>
            <a:endParaRPr lang="en-US" sz="1300" dirty="0"/>
          </a:p>
        </p:txBody>
      </p:sp>
      <p:sp>
        <p:nvSpPr>
          <p:cNvPr id="10" name="Shape 8"/>
          <p:cNvSpPr/>
          <p:nvPr/>
        </p:nvSpPr>
        <p:spPr>
          <a:xfrm>
            <a:off x="365760" y="2011680"/>
            <a:ext cx="8412480" cy="640080"/>
          </a:xfrm>
          <a:prstGeom prst="roundRect">
            <a:avLst>
              <a:gd name="adj" fmla="val 7143"/>
            </a:avLst>
          </a:prstGeom>
          <a:solidFill>
            <a:srgbClr val="FFFFFF"/>
          </a:solidFill>
          <a:ln w="12700">
            <a:solidFill>
              <a:srgbClr val="E8E4DD"/>
            </a:solidFill>
            <a:prstDash val="solid"/>
          </a:ln>
        </p:spPr>
      </p:sp>
      <p:sp>
        <p:nvSpPr>
          <p:cNvPr id="11" name="Text 9"/>
          <p:cNvSpPr/>
          <p:nvPr/>
        </p:nvSpPr>
        <p:spPr>
          <a:xfrm>
            <a:off x="502920" y="2148840"/>
            <a:ext cx="1371600" cy="365760"/>
          </a:xfrm>
          <a:prstGeom prst="rect">
            <a:avLst/>
          </a:prstGeom>
          <a:noFill/>
          <a:ln/>
        </p:spPr>
        <p:txBody>
          <a:bodyPr wrap="square" rtlCol="0" anchor="ctr"/>
          <a:lstStyle/>
          <a:p>
            <a:pPr indent="0" marL="0">
              <a:buNone/>
            </a:pPr>
            <a:r>
              <a:rPr lang="en-US" sz="1300" b="1" dirty="0">
                <a:solidFill>
                  <a:srgbClr val="0E7C86"/>
                </a:solidFill>
                <a:latin typeface="Century Gothic" pitchFamily="34" charset="0"/>
                <a:ea typeface="Century Gothic" pitchFamily="34" charset="-122"/>
                <a:cs typeface="Century Gothic" pitchFamily="34" charset="-120"/>
              </a:rPr>
              <a:t>Model</a:t>
            </a:r>
            <a:endParaRPr lang="en-US" sz="1300" dirty="0"/>
          </a:p>
        </p:txBody>
      </p:sp>
      <p:sp>
        <p:nvSpPr>
          <p:cNvPr id="12" name="Text 10"/>
          <p:cNvSpPr/>
          <p:nvPr/>
        </p:nvSpPr>
        <p:spPr>
          <a:xfrm>
            <a:off x="2011680" y="2121408"/>
            <a:ext cx="6583680" cy="4572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CNN over each frame, then LSTM over a short temporal window; output = continuous GDI.</a:t>
            </a:r>
            <a:endParaRPr lang="en-US" sz="1300" dirty="0"/>
          </a:p>
        </p:txBody>
      </p:sp>
      <p:sp>
        <p:nvSpPr>
          <p:cNvPr id="13" name="Shape 11"/>
          <p:cNvSpPr/>
          <p:nvPr/>
        </p:nvSpPr>
        <p:spPr>
          <a:xfrm>
            <a:off x="365760" y="2697480"/>
            <a:ext cx="8412480" cy="640080"/>
          </a:xfrm>
          <a:prstGeom prst="roundRect">
            <a:avLst>
              <a:gd name="adj" fmla="val 7143"/>
            </a:avLst>
          </a:prstGeom>
          <a:solidFill>
            <a:srgbClr val="FFFFFF"/>
          </a:solidFill>
          <a:ln w="12700">
            <a:solidFill>
              <a:srgbClr val="E8E4DD"/>
            </a:solidFill>
            <a:prstDash val="solid"/>
          </a:ln>
        </p:spPr>
      </p:sp>
      <p:sp>
        <p:nvSpPr>
          <p:cNvPr id="14" name="Text 12"/>
          <p:cNvSpPr/>
          <p:nvPr/>
        </p:nvSpPr>
        <p:spPr>
          <a:xfrm>
            <a:off x="502920" y="2834640"/>
            <a:ext cx="1371600" cy="365760"/>
          </a:xfrm>
          <a:prstGeom prst="rect">
            <a:avLst/>
          </a:prstGeom>
          <a:noFill/>
          <a:ln/>
        </p:spPr>
        <p:txBody>
          <a:bodyPr wrap="square" rtlCol="0" anchor="ctr"/>
          <a:lstStyle/>
          <a:p>
            <a:pPr indent="0" marL="0">
              <a:buNone/>
            </a:pPr>
            <a:r>
              <a:rPr lang="en-US" sz="1300" b="1" dirty="0">
                <a:solidFill>
                  <a:srgbClr val="0E7C86"/>
                </a:solidFill>
                <a:latin typeface="Century Gothic" pitchFamily="34" charset="0"/>
                <a:ea typeface="Century Gothic" pitchFamily="34" charset="-122"/>
                <a:cs typeface="Century Gothic" pitchFamily="34" charset="-120"/>
              </a:rPr>
              <a:t>Result</a:t>
            </a:r>
            <a:endParaRPr lang="en-US" sz="1300" dirty="0"/>
          </a:p>
        </p:txBody>
      </p:sp>
      <p:sp>
        <p:nvSpPr>
          <p:cNvPr id="15" name="Text 13"/>
          <p:cNvSpPr/>
          <p:nvPr/>
        </p:nvSpPr>
        <p:spPr>
          <a:xfrm>
            <a:off x="2011680" y="2807208"/>
            <a:ext cx="6583680" cy="4572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Best reported RMSE ≈ 4.4 (CNN + LSTM). Beats simple baselines and some transfer models on their split.</a:t>
            </a:r>
            <a:endParaRPr lang="en-US" sz="1300" dirty="0"/>
          </a:p>
        </p:txBody>
      </p:sp>
      <p:sp>
        <p:nvSpPr>
          <p:cNvPr id="16" name="Shape 14"/>
          <p:cNvSpPr/>
          <p:nvPr/>
        </p:nvSpPr>
        <p:spPr>
          <a:xfrm>
            <a:off x="365760" y="3383280"/>
            <a:ext cx="8412480" cy="640080"/>
          </a:xfrm>
          <a:prstGeom prst="roundRect">
            <a:avLst>
              <a:gd name="adj" fmla="val 7143"/>
            </a:avLst>
          </a:prstGeom>
          <a:solidFill>
            <a:srgbClr val="FFFFFF"/>
          </a:solidFill>
          <a:ln w="12700">
            <a:solidFill>
              <a:srgbClr val="E8E4DD"/>
            </a:solidFill>
            <a:prstDash val="solid"/>
          </a:ln>
        </p:spPr>
      </p:sp>
      <p:sp>
        <p:nvSpPr>
          <p:cNvPr id="17" name="Text 15"/>
          <p:cNvSpPr/>
          <p:nvPr/>
        </p:nvSpPr>
        <p:spPr>
          <a:xfrm>
            <a:off x="502920" y="3520440"/>
            <a:ext cx="1371600" cy="365760"/>
          </a:xfrm>
          <a:prstGeom prst="rect">
            <a:avLst/>
          </a:prstGeom>
          <a:noFill/>
          <a:ln/>
        </p:spPr>
        <p:txBody>
          <a:bodyPr wrap="square" rtlCol="0" anchor="ctr"/>
          <a:lstStyle/>
          <a:p>
            <a:pPr indent="0" marL="0">
              <a:buNone/>
            </a:pPr>
            <a:r>
              <a:rPr lang="en-US" sz="1300" b="1" dirty="0">
                <a:solidFill>
                  <a:srgbClr val="0E7C86"/>
                </a:solidFill>
                <a:latin typeface="Century Gothic" pitchFamily="34" charset="0"/>
                <a:ea typeface="Century Gothic" pitchFamily="34" charset="-122"/>
                <a:cs typeface="Century Gothic" pitchFamily="34" charset="-120"/>
              </a:rPr>
              <a:t>Limit</a:t>
            </a:r>
            <a:endParaRPr lang="en-US" sz="1300" dirty="0"/>
          </a:p>
        </p:txBody>
      </p:sp>
      <p:sp>
        <p:nvSpPr>
          <p:cNvPr id="18" name="Text 16"/>
          <p:cNvSpPr/>
          <p:nvPr/>
        </p:nvSpPr>
        <p:spPr>
          <a:xfrm>
            <a:off x="2011680" y="3493008"/>
            <a:ext cx="6583680" cy="4572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Raw videos are private. Public release is CS229DP: path CSVs + processed IUV maps (data.zip).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DATASET — CS229DP in detail</a:t>
            </a:r>
            <a:endParaRPr lang="en-US" sz="2000" dirty="0"/>
          </a:p>
        </p:txBody>
      </p:sp>
      <p:sp>
        <p:nvSpPr>
          <p:cNvPr id="4" name="Text 2"/>
          <p:cNvSpPr/>
          <p:nvPr/>
        </p:nvSpPr>
        <p:spPr>
          <a:xfrm>
            <a:off x="457200" y="502920"/>
            <a:ext cx="8229600" cy="22860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Repository: github.com/agotlin/CS229DP</a:t>
            </a:r>
            <a:endParaRPr lang="en-US" sz="1200" dirty="0"/>
          </a:p>
        </p:txBody>
      </p:sp>
      <p:sp>
        <p:nvSpPr>
          <p:cNvPr id="5" name="Shape 3"/>
          <p:cNvSpPr/>
          <p:nvPr/>
        </p:nvSpPr>
        <p:spPr>
          <a:xfrm>
            <a:off x="365760" y="822960"/>
            <a:ext cx="2560320" cy="502920"/>
          </a:xfrm>
          <a:prstGeom prst="rect">
            <a:avLst/>
          </a:prstGeom>
          <a:solidFill>
            <a:srgbClr val="1B2A4A"/>
          </a:solidFill>
          <a:ln/>
        </p:spPr>
      </p:sp>
      <p:sp>
        <p:nvSpPr>
          <p:cNvPr id="6" name="Shape 4"/>
          <p:cNvSpPr/>
          <p:nvPr/>
        </p:nvSpPr>
        <p:spPr>
          <a:xfrm>
            <a:off x="2926080" y="822960"/>
            <a:ext cx="5852160" cy="502920"/>
          </a:xfrm>
          <a:prstGeom prst="rect">
            <a:avLst/>
          </a:prstGeom>
          <a:solidFill>
            <a:srgbClr val="1B2A4A"/>
          </a:solidFill>
          <a:ln/>
        </p:spPr>
      </p:sp>
      <p:sp>
        <p:nvSpPr>
          <p:cNvPr id="7" name="Text 5"/>
          <p:cNvSpPr/>
          <p:nvPr/>
        </p:nvSpPr>
        <p:spPr>
          <a:xfrm>
            <a:off x="457200" y="932688"/>
            <a:ext cx="23774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Artifact</a:t>
            </a:r>
            <a:endParaRPr lang="en-US" sz="1200" dirty="0"/>
          </a:p>
        </p:txBody>
      </p:sp>
      <p:sp>
        <p:nvSpPr>
          <p:cNvPr id="8" name="Text 6"/>
          <p:cNvSpPr/>
          <p:nvPr/>
        </p:nvSpPr>
        <p:spPr>
          <a:xfrm>
            <a:off x="3017520" y="932688"/>
            <a:ext cx="56692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p>
        </p:txBody>
      </p:sp>
      <p:sp>
        <p:nvSpPr>
          <p:cNvPr id="9" name="Shape 7"/>
          <p:cNvSpPr/>
          <p:nvPr/>
        </p:nvSpPr>
        <p:spPr>
          <a:xfrm>
            <a:off x="365760" y="1325880"/>
            <a:ext cx="2560320" cy="502920"/>
          </a:xfrm>
          <a:prstGeom prst="rect">
            <a:avLst/>
          </a:prstGeom>
          <a:solidFill>
            <a:srgbClr val="FFFFFF"/>
          </a:solidFill>
          <a:ln/>
        </p:spPr>
      </p:sp>
      <p:sp>
        <p:nvSpPr>
          <p:cNvPr id="10" name="Shape 8"/>
          <p:cNvSpPr/>
          <p:nvPr/>
        </p:nvSpPr>
        <p:spPr>
          <a:xfrm>
            <a:off x="2926080" y="1325880"/>
            <a:ext cx="5852160" cy="502920"/>
          </a:xfrm>
          <a:prstGeom prst="rect">
            <a:avLst/>
          </a:prstGeom>
          <a:solidFill>
            <a:srgbClr val="FFFFFF"/>
          </a:solidFill>
          <a:ln/>
        </p:spPr>
      </p:sp>
      <p:sp>
        <p:nvSpPr>
          <p:cNvPr id="11" name="Text 9"/>
          <p:cNvSpPr/>
          <p:nvPr/>
        </p:nvSpPr>
        <p:spPr>
          <a:xfrm>
            <a:off x="457200" y="1435608"/>
            <a:ext cx="237744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imagepath_gdi.csv</a:t>
            </a:r>
            <a:endParaRPr lang="en-US" sz="1200" dirty="0"/>
          </a:p>
        </p:txBody>
      </p:sp>
      <p:sp>
        <p:nvSpPr>
          <p:cNvPr id="12" name="Text 10"/>
          <p:cNvSpPr/>
          <p:nvPr/>
        </p:nvSpPr>
        <p:spPr>
          <a:xfrm>
            <a:off x="3017520" y="1435608"/>
            <a:ext cx="566928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~234k rows: path to each *_IUV.png, continuous GDI, optional label_norm bin</a:t>
            </a:r>
            <a:endParaRPr lang="en-US" sz="1200" dirty="0"/>
          </a:p>
        </p:txBody>
      </p:sp>
      <p:sp>
        <p:nvSpPr>
          <p:cNvPr id="13" name="Shape 11"/>
          <p:cNvSpPr/>
          <p:nvPr/>
        </p:nvSpPr>
        <p:spPr>
          <a:xfrm>
            <a:off x="365760" y="1828800"/>
            <a:ext cx="2560320" cy="502920"/>
          </a:xfrm>
          <a:prstGeom prst="rect">
            <a:avLst/>
          </a:prstGeom>
          <a:solidFill>
            <a:srgbClr val="F5F5F0"/>
          </a:solidFill>
          <a:ln/>
        </p:spPr>
      </p:sp>
      <p:sp>
        <p:nvSpPr>
          <p:cNvPr id="14" name="Shape 12"/>
          <p:cNvSpPr/>
          <p:nvPr/>
        </p:nvSpPr>
        <p:spPr>
          <a:xfrm>
            <a:off x="2926080" y="1828800"/>
            <a:ext cx="5852160" cy="502920"/>
          </a:xfrm>
          <a:prstGeom prst="rect">
            <a:avLst/>
          </a:prstGeom>
          <a:solidFill>
            <a:srgbClr val="F5F5F0"/>
          </a:solidFill>
          <a:ln/>
        </p:spPr>
      </p:sp>
      <p:sp>
        <p:nvSpPr>
          <p:cNvPr id="15" name="Text 13"/>
          <p:cNvSpPr/>
          <p:nvPr/>
        </p:nvSpPr>
        <p:spPr>
          <a:xfrm>
            <a:off x="457200" y="1938528"/>
            <a:ext cx="237744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imagepath_gdi_10.csv</a:t>
            </a:r>
            <a:endParaRPr lang="en-US" sz="1200" dirty="0"/>
          </a:p>
        </p:txBody>
      </p:sp>
      <p:sp>
        <p:nvSpPr>
          <p:cNvPr id="16" name="Text 14"/>
          <p:cNvSpPr/>
          <p:nvPr/>
        </p:nvSpPr>
        <p:spPr>
          <a:xfrm>
            <a:off x="3017520" y="1938528"/>
            <a:ext cx="566928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Smaller subset for smoke tests and debugging</a:t>
            </a:r>
            <a:endParaRPr lang="en-US" sz="1200" dirty="0"/>
          </a:p>
        </p:txBody>
      </p:sp>
      <p:sp>
        <p:nvSpPr>
          <p:cNvPr id="17" name="Shape 15"/>
          <p:cNvSpPr/>
          <p:nvPr/>
        </p:nvSpPr>
        <p:spPr>
          <a:xfrm>
            <a:off x="365760" y="2331720"/>
            <a:ext cx="2560320" cy="502920"/>
          </a:xfrm>
          <a:prstGeom prst="rect">
            <a:avLst/>
          </a:prstGeom>
          <a:solidFill>
            <a:srgbClr val="FFFFFF"/>
          </a:solidFill>
          <a:ln/>
        </p:spPr>
      </p:sp>
      <p:sp>
        <p:nvSpPr>
          <p:cNvPr id="18" name="Shape 16"/>
          <p:cNvSpPr/>
          <p:nvPr/>
        </p:nvSpPr>
        <p:spPr>
          <a:xfrm>
            <a:off x="2926080" y="2331720"/>
            <a:ext cx="5852160" cy="502920"/>
          </a:xfrm>
          <a:prstGeom prst="rect">
            <a:avLst/>
          </a:prstGeom>
          <a:solidFill>
            <a:srgbClr val="FFFFFF"/>
          </a:solidFill>
          <a:ln/>
        </p:spPr>
      </p:sp>
      <p:sp>
        <p:nvSpPr>
          <p:cNvPr id="19" name="Text 17"/>
          <p:cNvSpPr/>
          <p:nvPr/>
        </p:nvSpPr>
        <p:spPr>
          <a:xfrm>
            <a:off x="457200" y="2441448"/>
            <a:ext cx="237744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data.zip / densepose-out/</a:t>
            </a:r>
            <a:endParaRPr lang="en-US" sz="1200" dirty="0"/>
          </a:p>
        </p:txBody>
      </p:sp>
      <p:sp>
        <p:nvSpPr>
          <p:cNvPr id="20" name="Text 18"/>
          <p:cNvSpPr/>
          <p:nvPr/>
        </p:nvSpPr>
        <p:spPr>
          <a:xfrm>
            <a:off x="3017520" y="2441448"/>
            <a:ext cx="566928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Actual IUV PNG files under &lt;patient_id&gt;-processed/</a:t>
            </a:r>
            <a:endParaRPr lang="en-US" sz="1200" dirty="0"/>
          </a:p>
        </p:txBody>
      </p:sp>
      <p:sp>
        <p:nvSpPr>
          <p:cNvPr id="21" name="Shape 19"/>
          <p:cNvSpPr/>
          <p:nvPr/>
        </p:nvSpPr>
        <p:spPr>
          <a:xfrm>
            <a:off x="365760" y="2834640"/>
            <a:ext cx="2560320" cy="502920"/>
          </a:xfrm>
          <a:prstGeom prst="rect">
            <a:avLst/>
          </a:prstGeom>
          <a:solidFill>
            <a:srgbClr val="F5F5F0"/>
          </a:solidFill>
          <a:ln/>
        </p:spPr>
      </p:sp>
      <p:sp>
        <p:nvSpPr>
          <p:cNvPr id="22" name="Shape 20"/>
          <p:cNvSpPr/>
          <p:nvPr/>
        </p:nvSpPr>
        <p:spPr>
          <a:xfrm>
            <a:off x="2926080" y="2834640"/>
            <a:ext cx="5852160" cy="502920"/>
          </a:xfrm>
          <a:prstGeom prst="rect">
            <a:avLst/>
          </a:prstGeom>
          <a:solidFill>
            <a:srgbClr val="F5F5F0"/>
          </a:solidFill>
          <a:ln/>
        </p:spPr>
      </p:sp>
      <p:sp>
        <p:nvSpPr>
          <p:cNvPr id="23" name="Text 21"/>
          <p:cNvSpPr/>
          <p:nvPr/>
        </p:nvSpPr>
        <p:spPr>
          <a:xfrm>
            <a:off x="457200" y="2944368"/>
            <a:ext cx="237744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Patient folder</a:t>
            </a:r>
            <a:endParaRPr lang="en-US" sz="1200" dirty="0"/>
          </a:p>
        </p:txBody>
      </p:sp>
      <p:sp>
        <p:nvSpPr>
          <p:cNvPr id="24" name="Text 22"/>
          <p:cNvSpPr/>
          <p:nvPr/>
        </p:nvSpPr>
        <p:spPr>
          <a:xfrm>
            <a:off x="3017520" y="2944368"/>
            <a:ext cx="566928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e.g. 07337701-processed — all frames share one GDI label</a:t>
            </a:r>
            <a:endParaRPr lang="en-US" sz="1200" dirty="0"/>
          </a:p>
        </p:txBody>
      </p:sp>
      <p:sp>
        <p:nvSpPr>
          <p:cNvPr id="25" name="Shape 23"/>
          <p:cNvSpPr/>
          <p:nvPr/>
        </p:nvSpPr>
        <p:spPr>
          <a:xfrm>
            <a:off x="365760" y="3337560"/>
            <a:ext cx="2560320" cy="502920"/>
          </a:xfrm>
          <a:prstGeom prst="rect">
            <a:avLst/>
          </a:prstGeom>
          <a:solidFill>
            <a:srgbClr val="FFFFFF"/>
          </a:solidFill>
          <a:ln/>
        </p:spPr>
      </p:sp>
      <p:sp>
        <p:nvSpPr>
          <p:cNvPr id="26" name="Shape 24"/>
          <p:cNvSpPr/>
          <p:nvPr/>
        </p:nvSpPr>
        <p:spPr>
          <a:xfrm>
            <a:off x="2926080" y="3337560"/>
            <a:ext cx="5852160" cy="502920"/>
          </a:xfrm>
          <a:prstGeom prst="rect">
            <a:avLst/>
          </a:prstGeom>
          <a:solidFill>
            <a:srgbClr val="FFFFFF"/>
          </a:solidFill>
          <a:ln/>
        </p:spPr>
      </p:sp>
      <p:sp>
        <p:nvSpPr>
          <p:cNvPr id="27" name="Text 25"/>
          <p:cNvSpPr/>
          <p:nvPr/>
        </p:nvSpPr>
        <p:spPr>
          <a:xfrm>
            <a:off x="457200" y="3447288"/>
            <a:ext cx="237744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IUV image</a:t>
            </a:r>
            <a:endParaRPr lang="en-US" sz="1200" dirty="0"/>
          </a:p>
        </p:txBody>
      </p:sp>
      <p:sp>
        <p:nvSpPr>
          <p:cNvPr id="28" name="Text 26"/>
          <p:cNvSpPr/>
          <p:nvPr/>
        </p:nvSpPr>
        <p:spPr>
          <a:xfrm>
            <a:off x="3017520" y="3447288"/>
            <a:ext cx="566928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3-channel map: body-part index (I) + surface coordinates (U, V)</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METHODOLOGY — End-to-end pipeline</a:t>
            </a:r>
            <a:endParaRPr lang="en-US" sz="2000" dirty="0"/>
          </a:p>
        </p:txBody>
      </p:sp>
      <p:pic>
        <p:nvPicPr>
          <p:cNvPr id="4" name="Image 0" descr="/home/workdir/artifacts/ppt_imgs/image7.png">    </p:cNvPr>
          <p:cNvPicPr>
            <a:picLocks noChangeAspect="1"/>
          </p:cNvPicPr>
          <p:nvPr/>
        </p:nvPicPr>
        <p:blipFill>
          <a:blip r:embed="rId1"/>
          <a:stretch>
            <a:fillRect/>
          </a:stretch>
        </p:blipFill>
        <p:spPr>
          <a:xfrm>
            <a:off x="457200" y="548640"/>
            <a:ext cx="8229600" cy="1965960"/>
          </a:xfrm>
          <a:prstGeom prst="rect">
            <a:avLst/>
          </a:prstGeom>
        </p:spPr>
      </p:pic>
      <p:sp>
        <p:nvSpPr>
          <p:cNvPr id="5" name="Text 2"/>
          <p:cNvSpPr/>
          <p:nvPr/>
        </p:nvSpPr>
        <p:spPr>
          <a:xfrm>
            <a:off x="457200" y="2606040"/>
            <a:ext cx="8229600" cy="22860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Clinical ML concept (illustration). Our concrete steps on CS229DP:</a:t>
            </a:r>
            <a:endParaRPr lang="en-US" sz="1100" dirty="0"/>
          </a:p>
        </p:txBody>
      </p:sp>
      <p:sp>
        <p:nvSpPr>
          <p:cNvPr id="6" name="Shape 3"/>
          <p:cNvSpPr/>
          <p:nvPr/>
        </p:nvSpPr>
        <p:spPr>
          <a:xfrm>
            <a:off x="274320" y="2971800"/>
            <a:ext cx="1371600" cy="1645920"/>
          </a:xfrm>
          <a:prstGeom prst="roundRect">
            <a:avLst>
              <a:gd name="adj" fmla="val 3333"/>
            </a:avLst>
          </a:prstGeom>
          <a:solidFill>
            <a:srgbClr val="1B2A4A"/>
          </a:solidFill>
          <a:ln/>
        </p:spPr>
      </p:sp>
      <p:sp>
        <p:nvSpPr>
          <p:cNvPr id="7" name="Text 4"/>
          <p:cNvSpPr/>
          <p:nvPr/>
        </p:nvSpPr>
        <p:spPr>
          <a:xfrm>
            <a:off x="27432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1</a:t>
            </a:r>
            <a:endParaRPr lang="en-US" sz="1600" dirty="0"/>
          </a:p>
        </p:txBody>
      </p:sp>
      <p:sp>
        <p:nvSpPr>
          <p:cNvPr id="8" name="Text 5"/>
          <p:cNvSpPr/>
          <p:nvPr/>
        </p:nvSpPr>
        <p:spPr>
          <a:xfrm>
            <a:off x="32004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Load CSV</a:t>
            </a:r>
            <a:endParaRPr lang="en-US" sz="1200" dirty="0"/>
          </a:p>
        </p:txBody>
      </p:sp>
      <p:sp>
        <p:nvSpPr>
          <p:cNvPr id="9" name="Text 6"/>
          <p:cNvSpPr/>
          <p:nvPr/>
        </p:nvSpPr>
        <p:spPr>
          <a:xfrm>
            <a:off x="32004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Paths + GDI</a:t>
            </a:r>
            <a:endParaRPr lang="en-US" sz="1100" dirty="0"/>
          </a:p>
        </p:txBody>
      </p:sp>
      <p:sp>
        <p:nvSpPr>
          <p:cNvPr id="10" name="Shape 7"/>
          <p:cNvSpPr/>
          <p:nvPr/>
        </p:nvSpPr>
        <p:spPr>
          <a:xfrm>
            <a:off x="1737360" y="2971800"/>
            <a:ext cx="1371600" cy="1645920"/>
          </a:xfrm>
          <a:prstGeom prst="roundRect">
            <a:avLst>
              <a:gd name="adj" fmla="val 3333"/>
            </a:avLst>
          </a:prstGeom>
          <a:solidFill>
            <a:srgbClr val="1B2A4A"/>
          </a:solidFill>
          <a:ln/>
        </p:spPr>
      </p:sp>
      <p:sp>
        <p:nvSpPr>
          <p:cNvPr id="11" name="Text 8"/>
          <p:cNvSpPr/>
          <p:nvPr/>
        </p:nvSpPr>
        <p:spPr>
          <a:xfrm>
            <a:off x="173736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2</a:t>
            </a:r>
            <a:endParaRPr lang="en-US" sz="1600" dirty="0"/>
          </a:p>
        </p:txBody>
      </p:sp>
      <p:sp>
        <p:nvSpPr>
          <p:cNvPr id="12" name="Text 9"/>
          <p:cNvSpPr/>
          <p:nvPr/>
        </p:nvSpPr>
        <p:spPr>
          <a:xfrm>
            <a:off x="178308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Resolve PNGs</a:t>
            </a:r>
            <a:endParaRPr lang="en-US" sz="1200" dirty="0"/>
          </a:p>
        </p:txBody>
      </p:sp>
      <p:sp>
        <p:nvSpPr>
          <p:cNvPr id="13" name="Text 10"/>
          <p:cNvSpPr/>
          <p:nvPr/>
        </p:nvSpPr>
        <p:spPr>
          <a:xfrm>
            <a:off x="178308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densepose-out/</a:t>
            </a:r>
            <a:endParaRPr lang="en-US" sz="1100" dirty="0"/>
          </a:p>
        </p:txBody>
      </p:sp>
      <p:sp>
        <p:nvSpPr>
          <p:cNvPr id="14" name="Shape 11"/>
          <p:cNvSpPr/>
          <p:nvPr/>
        </p:nvSpPr>
        <p:spPr>
          <a:xfrm>
            <a:off x="3200400" y="2971800"/>
            <a:ext cx="1371600" cy="1645920"/>
          </a:xfrm>
          <a:prstGeom prst="roundRect">
            <a:avLst>
              <a:gd name="adj" fmla="val 3333"/>
            </a:avLst>
          </a:prstGeom>
          <a:solidFill>
            <a:srgbClr val="1B2A4A"/>
          </a:solidFill>
          <a:ln/>
        </p:spPr>
      </p:sp>
      <p:sp>
        <p:nvSpPr>
          <p:cNvPr id="15" name="Text 12"/>
          <p:cNvSpPr/>
          <p:nvPr/>
        </p:nvSpPr>
        <p:spPr>
          <a:xfrm>
            <a:off x="320040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3</a:t>
            </a:r>
            <a:endParaRPr lang="en-US" sz="1600" dirty="0"/>
          </a:p>
        </p:txBody>
      </p:sp>
      <p:sp>
        <p:nvSpPr>
          <p:cNvPr id="16" name="Text 13"/>
          <p:cNvSpPr/>
          <p:nvPr/>
        </p:nvSpPr>
        <p:spPr>
          <a:xfrm>
            <a:off x="324612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Windows</a:t>
            </a:r>
            <a:endParaRPr lang="en-US" sz="1200" dirty="0"/>
          </a:p>
        </p:txBody>
      </p:sp>
      <p:sp>
        <p:nvSpPr>
          <p:cNvPr id="17" name="Text 14"/>
          <p:cNvSpPr/>
          <p:nvPr/>
        </p:nvSpPr>
        <p:spPr>
          <a:xfrm>
            <a:off x="324612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T = 10 frames</a:t>
            </a:r>
            <a:endParaRPr lang="en-US" sz="1100" dirty="0"/>
          </a:p>
        </p:txBody>
      </p:sp>
      <p:sp>
        <p:nvSpPr>
          <p:cNvPr id="18" name="Shape 15"/>
          <p:cNvSpPr/>
          <p:nvPr/>
        </p:nvSpPr>
        <p:spPr>
          <a:xfrm>
            <a:off x="4663440" y="2971800"/>
            <a:ext cx="1371600" cy="1645920"/>
          </a:xfrm>
          <a:prstGeom prst="roundRect">
            <a:avLst>
              <a:gd name="adj" fmla="val 3333"/>
            </a:avLst>
          </a:prstGeom>
          <a:solidFill>
            <a:srgbClr val="1B2A4A"/>
          </a:solidFill>
          <a:ln/>
        </p:spPr>
      </p:sp>
      <p:sp>
        <p:nvSpPr>
          <p:cNvPr id="19" name="Text 16"/>
          <p:cNvSpPr/>
          <p:nvPr/>
        </p:nvSpPr>
        <p:spPr>
          <a:xfrm>
            <a:off x="466344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4</a:t>
            </a:r>
            <a:endParaRPr lang="en-US" sz="1600" dirty="0"/>
          </a:p>
        </p:txBody>
      </p:sp>
      <p:sp>
        <p:nvSpPr>
          <p:cNvPr id="20" name="Text 17"/>
          <p:cNvSpPr/>
          <p:nvPr/>
        </p:nvSpPr>
        <p:spPr>
          <a:xfrm>
            <a:off x="470916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Split</a:t>
            </a:r>
            <a:endParaRPr lang="en-US" sz="1200" dirty="0"/>
          </a:p>
        </p:txBody>
      </p:sp>
      <p:sp>
        <p:nvSpPr>
          <p:cNvPr id="21" name="Text 18"/>
          <p:cNvSpPr/>
          <p:nvPr/>
        </p:nvSpPr>
        <p:spPr>
          <a:xfrm>
            <a:off x="470916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By patient</a:t>
            </a:r>
            <a:endParaRPr lang="en-US" sz="1100" dirty="0"/>
          </a:p>
        </p:txBody>
      </p:sp>
      <p:sp>
        <p:nvSpPr>
          <p:cNvPr id="22" name="Shape 19"/>
          <p:cNvSpPr/>
          <p:nvPr/>
        </p:nvSpPr>
        <p:spPr>
          <a:xfrm>
            <a:off x="6126480" y="2971800"/>
            <a:ext cx="1371600" cy="1645920"/>
          </a:xfrm>
          <a:prstGeom prst="roundRect">
            <a:avLst>
              <a:gd name="adj" fmla="val 3333"/>
            </a:avLst>
          </a:prstGeom>
          <a:solidFill>
            <a:srgbClr val="1B2A4A"/>
          </a:solidFill>
          <a:ln/>
        </p:spPr>
      </p:sp>
      <p:sp>
        <p:nvSpPr>
          <p:cNvPr id="23" name="Text 20"/>
          <p:cNvSpPr/>
          <p:nvPr/>
        </p:nvSpPr>
        <p:spPr>
          <a:xfrm>
            <a:off x="612648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5</a:t>
            </a:r>
            <a:endParaRPr lang="en-US" sz="1600" dirty="0"/>
          </a:p>
        </p:txBody>
      </p:sp>
      <p:sp>
        <p:nvSpPr>
          <p:cNvPr id="24" name="Text 21"/>
          <p:cNvSpPr/>
          <p:nvPr/>
        </p:nvSpPr>
        <p:spPr>
          <a:xfrm>
            <a:off x="617220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Train</a:t>
            </a:r>
            <a:endParaRPr lang="en-US" sz="1200" dirty="0"/>
          </a:p>
        </p:txBody>
      </p:sp>
      <p:sp>
        <p:nvSpPr>
          <p:cNvPr id="25" name="Text 22"/>
          <p:cNvSpPr/>
          <p:nvPr/>
        </p:nvSpPr>
        <p:spPr>
          <a:xfrm>
            <a:off x="617220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MSE / multi-task</a:t>
            </a:r>
            <a:endParaRPr lang="en-US" sz="1100" dirty="0"/>
          </a:p>
        </p:txBody>
      </p:sp>
      <p:sp>
        <p:nvSpPr>
          <p:cNvPr id="26" name="Shape 23"/>
          <p:cNvSpPr/>
          <p:nvPr/>
        </p:nvSpPr>
        <p:spPr>
          <a:xfrm>
            <a:off x="7589520" y="2971800"/>
            <a:ext cx="1371600" cy="1645920"/>
          </a:xfrm>
          <a:prstGeom prst="roundRect">
            <a:avLst>
              <a:gd name="adj" fmla="val 3333"/>
            </a:avLst>
          </a:prstGeom>
          <a:solidFill>
            <a:srgbClr val="1B2A4A"/>
          </a:solidFill>
          <a:ln/>
        </p:spPr>
      </p:sp>
      <p:sp>
        <p:nvSpPr>
          <p:cNvPr id="27" name="Text 24"/>
          <p:cNvSpPr/>
          <p:nvPr/>
        </p:nvSpPr>
        <p:spPr>
          <a:xfrm>
            <a:off x="7589520" y="3108960"/>
            <a:ext cx="1371600" cy="274320"/>
          </a:xfrm>
          <a:prstGeom prst="rect">
            <a:avLst/>
          </a:prstGeom>
          <a:noFill/>
          <a:ln/>
        </p:spPr>
        <p:txBody>
          <a:bodyPr wrap="square" rtlCol="0" anchor="ctr"/>
          <a:lstStyle/>
          <a:p>
            <a:pPr algn="ctr" indent="0" marL="0">
              <a:buNone/>
            </a:pPr>
            <a:r>
              <a:rPr lang="en-US" sz="1600" b="1" dirty="0">
                <a:solidFill>
                  <a:srgbClr val="D4A843"/>
                </a:solidFill>
                <a:latin typeface="Century Gothic" pitchFamily="34" charset="0"/>
                <a:ea typeface="Century Gothic" pitchFamily="34" charset="-122"/>
                <a:cs typeface="Century Gothic" pitchFamily="34" charset="-120"/>
              </a:rPr>
              <a:t>6</a:t>
            </a:r>
            <a:endParaRPr lang="en-US" sz="1600" dirty="0"/>
          </a:p>
        </p:txBody>
      </p:sp>
      <p:sp>
        <p:nvSpPr>
          <p:cNvPr id="28" name="Text 25"/>
          <p:cNvSpPr/>
          <p:nvPr/>
        </p:nvSpPr>
        <p:spPr>
          <a:xfrm>
            <a:off x="7635240" y="3474720"/>
            <a:ext cx="1280160" cy="365760"/>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Evaluate</a:t>
            </a:r>
            <a:endParaRPr lang="en-US" sz="1200" dirty="0"/>
          </a:p>
        </p:txBody>
      </p:sp>
      <p:sp>
        <p:nvSpPr>
          <p:cNvPr id="29" name="Text 26"/>
          <p:cNvSpPr/>
          <p:nvPr/>
        </p:nvSpPr>
        <p:spPr>
          <a:xfrm>
            <a:off x="7635240" y="3931920"/>
            <a:ext cx="1280160" cy="457200"/>
          </a:xfrm>
          <a:prstGeom prst="rect">
            <a:avLst/>
          </a:prstGeom>
          <a:noFill/>
          <a:ln/>
        </p:spPr>
        <p:txBody>
          <a:bodyPr wrap="square" rtlCol="0" anchor="ctr"/>
          <a:lstStyle/>
          <a:p>
            <a:pPr algn="ctr" indent="0" marL="0">
              <a:buNone/>
            </a:pPr>
            <a:r>
              <a:rPr lang="en-US" sz="1100" dirty="0">
                <a:solidFill>
                  <a:srgbClr val="E8E4DD"/>
                </a:solidFill>
                <a:latin typeface="Calibri" pitchFamily="34" charset="0"/>
                <a:ea typeface="Calibri" pitchFamily="34" charset="-122"/>
                <a:cs typeface="Calibri" pitchFamily="34" charset="-120"/>
              </a:rPr>
              <a:t>RMSE + plots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Why patient-disjoint splits?</a:t>
            </a:r>
            <a:endParaRPr lang="en-US" sz="2000" dirty="0"/>
          </a:p>
        </p:txBody>
      </p:sp>
      <p:sp>
        <p:nvSpPr>
          <p:cNvPr id="4" name="Shape 2"/>
          <p:cNvSpPr/>
          <p:nvPr/>
        </p:nvSpPr>
        <p:spPr>
          <a:xfrm>
            <a:off x="365760" y="685800"/>
            <a:ext cx="8412480" cy="1463040"/>
          </a:xfrm>
          <a:prstGeom prst="roundRect">
            <a:avLst>
              <a:gd name="adj" fmla="val 3125"/>
            </a:avLst>
          </a:prstGeom>
          <a:solidFill>
            <a:srgbClr val="E6F4F5"/>
          </a:solidFill>
          <a:ln w="12700">
            <a:solidFill>
              <a:srgbClr val="E8E4DD"/>
            </a:solidFill>
            <a:prstDash val="solid"/>
          </a:ln>
        </p:spPr>
      </p:sp>
      <p:sp>
        <p:nvSpPr>
          <p:cNvPr id="5" name="Text 3"/>
          <p:cNvSpPr/>
          <p:nvPr/>
        </p:nvSpPr>
        <p:spPr>
          <a:xfrm>
            <a:off x="548640" y="868680"/>
            <a:ext cx="8046720" cy="109728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Frames from the same patient are highly correlated (same body, same session, same GDI). If those frames appear in both train and test, RMSE looks artificially good. We assign every sequence from a patient to only one of train / val / test.</a:t>
            </a:r>
            <a:endParaRPr lang="en-US" sz="1400" dirty="0"/>
          </a:p>
        </p:txBody>
      </p:sp>
      <p:sp>
        <p:nvSpPr>
          <p:cNvPr id="6" name="Shape 4"/>
          <p:cNvSpPr/>
          <p:nvPr/>
        </p:nvSpPr>
        <p:spPr>
          <a:xfrm>
            <a:off x="365760" y="2377440"/>
            <a:ext cx="2743200" cy="2011680"/>
          </a:xfrm>
          <a:prstGeom prst="roundRect">
            <a:avLst>
              <a:gd name="adj" fmla="val 2273"/>
            </a:avLst>
          </a:prstGeom>
          <a:solidFill>
            <a:srgbClr val="FFFFFF"/>
          </a:solidFill>
          <a:ln w="12700">
            <a:solidFill>
              <a:srgbClr val="E8E4DD"/>
            </a:solidFill>
            <a:prstDash val="solid"/>
          </a:ln>
        </p:spPr>
      </p:sp>
      <p:sp>
        <p:nvSpPr>
          <p:cNvPr id="7" name="Text 5"/>
          <p:cNvSpPr/>
          <p:nvPr/>
        </p:nvSpPr>
        <p:spPr>
          <a:xfrm>
            <a:off x="502920" y="2560320"/>
            <a:ext cx="2468880" cy="36576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Train 70%</a:t>
            </a:r>
            <a:endParaRPr lang="en-US" sz="1500" dirty="0"/>
          </a:p>
        </p:txBody>
      </p:sp>
      <p:sp>
        <p:nvSpPr>
          <p:cNvPr id="8" name="Text 6"/>
          <p:cNvSpPr/>
          <p:nvPr/>
        </p:nvSpPr>
        <p:spPr>
          <a:xfrm>
            <a:off x="502920" y="3108960"/>
            <a:ext cx="2468880" cy="10972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Patients used to fit CNN, LSTM, attention, multi-task heads.</a:t>
            </a:r>
            <a:endParaRPr lang="en-US" sz="1300" dirty="0"/>
          </a:p>
        </p:txBody>
      </p:sp>
      <p:sp>
        <p:nvSpPr>
          <p:cNvPr id="9" name="Shape 7"/>
          <p:cNvSpPr/>
          <p:nvPr/>
        </p:nvSpPr>
        <p:spPr>
          <a:xfrm>
            <a:off x="3246120" y="2377440"/>
            <a:ext cx="2743200" cy="2011680"/>
          </a:xfrm>
          <a:prstGeom prst="roundRect">
            <a:avLst>
              <a:gd name="adj" fmla="val 2273"/>
            </a:avLst>
          </a:prstGeom>
          <a:solidFill>
            <a:srgbClr val="FFFFFF"/>
          </a:solidFill>
          <a:ln w="12700">
            <a:solidFill>
              <a:srgbClr val="E8E4DD"/>
            </a:solidFill>
            <a:prstDash val="solid"/>
          </a:ln>
        </p:spPr>
      </p:sp>
      <p:sp>
        <p:nvSpPr>
          <p:cNvPr id="10" name="Text 8"/>
          <p:cNvSpPr/>
          <p:nvPr/>
        </p:nvSpPr>
        <p:spPr>
          <a:xfrm>
            <a:off x="3383280" y="2560320"/>
            <a:ext cx="2468880" cy="36576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Val 15%</a:t>
            </a:r>
            <a:endParaRPr lang="en-US" sz="1500" dirty="0"/>
          </a:p>
        </p:txBody>
      </p:sp>
      <p:sp>
        <p:nvSpPr>
          <p:cNvPr id="11" name="Text 9"/>
          <p:cNvSpPr/>
          <p:nvPr/>
        </p:nvSpPr>
        <p:spPr>
          <a:xfrm>
            <a:off x="3383280" y="3108960"/>
            <a:ext cx="2468880" cy="10972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Early stopping on validation RMSE; pick best checkpoint.</a:t>
            </a:r>
            <a:endParaRPr lang="en-US" sz="1300" dirty="0"/>
          </a:p>
        </p:txBody>
      </p:sp>
      <p:sp>
        <p:nvSpPr>
          <p:cNvPr id="12" name="Shape 10"/>
          <p:cNvSpPr/>
          <p:nvPr/>
        </p:nvSpPr>
        <p:spPr>
          <a:xfrm>
            <a:off x="6126480" y="2377440"/>
            <a:ext cx="2743200" cy="2011680"/>
          </a:xfrm>
          <a:prstGeom prst="roundRect">
            <a:avLst>
              <a:gd name="adj" fmla="val 2273"/>
            </a:avLst>
          </a:prstGeom>
          <a:solidFill>
            <a:srgbClr val="FFFFFF"/>
          </a:solidFill>
          <a:ln w="12700">
            <a:solidFill>
              <a:srgbClr val="E8E4DD"/>
            </a:solidFill>
            <a:prstDash val="solid"/>
          </a:ln>
        </p:spPr>
      </p:sp>
      <p:sp>
        <p:nvSpPr>
          <p:cNvPr id="13" name="Text 11"/>
          <p:cNvSpPr/>
          <p:nvPr/>
        </p:nvSpPr>
        <p:spPr>
          <a:xfrm>
            <a:off x="6263640" y="2560320"/>
            <a:ext cx="2468880" cy="36576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Test 15%</a:t>
            </a:r>
            <a:endParaRPr lang="en-US" sz="1500" dirty="0"/>
          </a:p>
        </p:txBody>
      </p:sp>
      <p:sp>
        <p:nvSpPr>
          <p:cNvPr id="14" name="Text 12"/>
          <p:cNvSpPr/>
          <p:nvPr/>
        </p:nvSpPr>
        <p:spPr>
          <a:xfrm>
            <a:off x="6263640" y="3108960"/>
            <a:ext cx="2468880" cy="10972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Final reported RMSE only — never used for tuning.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MACHINE LEARNING MODELS — Overview</a:t>
            </a:r>
            <a:endParaRPr lang="en-US" sz="2000" dirty="0"/>
          </a:p>
        </p:txBody>
      </p:sp>
      <p:sp>
        <p:nvSpPr>
          <p:cNvPr id="4" name="Shape 2"/>
          <p:cNvSpPr/>
          <p:nvPr/>
        </p:nvSpPr>
        <p:spPr>
          <a:xfrm>
            <a:off x="365760" y="640080"/>
            <a:ext cx="8412480" cy="822960"/>
          </a:xfrm>
          <a:prstGeom prst="roundRect">
            <a:avLst>
              <a:gd name="adj" fmla="val 5556"/>
            </a:avLst>
          </a:prstGeom>
          <a:solidFill>
            <a:srgbClr val="FFFFFF"/>
          </a:solidFill>
          <a:ln w="12700">
            <a:solidFill>
              <a:srgbClr val="E8E4DD"/>
            </a:solidFill>
            <a:prstDash val="solid"/>
          </a:ln>
        </p:spPr>
      </p:sp>
      <p:sp>
        <p:nvSpPr>
          <p:cNvPr id="5" name="Text 3"/>
          <p:cNvSpPr/>
          <p:nvPr/>
        </p:nvSpPr>
        <p:spPr>
          <a:xfrm>
            <a:off x="548640" y="731520"/>
            <a:ext cx="8046720" cy="274320"/>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1. Linear / Ridge baselines</a:t>
            </a:r>
            <a:endParaRPr lang="en-US" sz="1400" dirty="0"/>
          </a:p>
        </p:txBody>
      </p:sp>
      <p:sp>
        <p:nvSpPr>
          <p:cNvPr id="6" name="Text 4"/>
          <p:cNvSpPr/>
          <p:nvPr/>
        </p:nvSpPr>
        <p:spPr>
          <a:xfrm>
            <a:off x="548640" y="105156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Mean and std of IUV channels over the window → linear model. Fast sanity check; no temporal structure.</a:t>
            </a:r>
            <a:endParaRPr lang="en-US" sz="1300" dirty="0"/>
          </a:p>
        </p:txBody>
      </p:sp>
      <p:sp>
        <p:nvSpPr>
          <p:cNvPr id="7" name="Shape 5"/>
          <p:cNvSpPr/>
          <p:nvPr/>
        </p:nvSpPr>
        <p:spPr>
          <a:xfrm>
            <a:off x="365760" y="1554480"/>
            <a:ext cx="8412480" cy="822960"/>
          </a:xfrm>
          <a:prstGeom prst="roundRect">
            <a:avLst>
              <a:gd name="adj" fmla="val 5556"/>
            </a:avLst>
          </a:prstGeom>
          <a:solidFill>
            <a:srgbClr val="FFFFFF"/>
          </a:solidFill>
          <a:ln w="12700">
            <a:solidFill>
              <a:srgbClr val="E8E4DD"/>
            </a:solidFill>
            <a:prstDash val="solid"/>
          </a:ln>
        </p:spPr>
      </p:sp>
      <p:sp>
        <p:nvSpPr>
          <p:cNvPr id="8" name="Text 6"/>
          <p:cNvSpPr/>
          <p:nvPr/>
        </p:nvSpPr>
        <p:spPr>
          <a:xfrm>
            <a:off x="548640" y="1645920"/>
            <a:ext cx="8046720" cy="274320"/>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2. CNN + BiLSTM (paper spirit)</a:t>
            </a:r>
            <a:endParaRPr lang="en-US" sz="1400" dirty="0"/>
          </a:p>
        </p:txBody>
      </p:sp>
      <p:sp>
        <p:nvSpPr>
          <p:cNvPr id="9" name="Text 7"/>
          <p:cNvSpPr/>
          <p:nvPr/>
        </p:nvSpPr>
        <p:spPr>
          <a:xfrm>
            <a:off x="548640" y="196596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Per-frame CNN → bidirectional LSTM → last timestep → scalar GDI. Closest to Paper 31’s main idea.</a:t>
            </a:r>
            <a:endParaRPr lang="en-US" sz="1300" dirty="0"/>
          </a:p>
        </p:txBody>
      </p:sp>
      <p:sp>
        <p:nvSpPr>
          <p:cNvPr id="10" name="Shape 8"/>
          <p:cNvSpPr/>
          <p:nvPr/>
        </p:nvSpPr>
        <p:spPr>
          <a:xfrm>
            <a:off x="365760" y="2468880"/>
            <a:ext cx="8412480" cy="822960"/>
          </a:xfrm>
          <a:prstGeom prst="roundRect">
            <a:avLst>
              <a:gd name="adj" fmla="val 5556"/>
            </a:avLst>
          </a:prstGeom>
          <a:solidFill>
            <a:srgbClr val="FFFFFF"/>
          </a:solidFill>
          <a:ln w="25400">
            <a:solidFill>
              <a:srgbClr val="D4A843"/>
            </a:solidFill>
            <a:prstDash val="solid"/>
          </a:ln>
        </p:spPr>
      </p:sp>
      <p:sp>
        <p:nvSpPr>
          <p:cNvPr id="11" name="Text 9"/>
          <p:cNvSpPr/>
          <p:nvPr/>
        </p:nvSpPr>
        <p:spPr>
          <a:xfrm>
            <a:off x="548640" y="2560320"/>
            <a:ext cx="8046720" cy="274320"/>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3. CNN + BiLSTM + Attention ★</a:t>
            </a:r>
            <a:endParaRPr lang="en-US" sz="1400" dirty="0"/>
          </a:p>
        </p:txBody>
      </p:sp>
      <p:sp>
        <p:nvSpPr>
          <p:cNvPr id="12" name="Text 10"/>
          <p:cNvSpPr/>
          <p:nvPr/>
        </p:nvSpPr>
        <p:spPr>
          <a:xfrm>
            <a:off x="548640" y="288036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Same backbone; soft attention weights over time. Model can emphasise heel-strike or mid-stance frames.</a:t>
            </a:r>
            <a:endParaRPr lang="en-US" sz="1300" dirty="0"/>
          </a:p>
        </p:txBody>
      </p:sp>
      <p:sp>
        <p:nvSpPr>
          <p:cNvPr id="13" name="Shape 11"/>
          <p:cNvSpPr/>
          <p:nvPr/>
        </p:nvSpPr>
        <p:spPr>
          <a:xfrm>
            <a:off x="365760" y="3383280"/>
            <a:ext cx="8412480" cy="822960"/>
          </a:xfrm>
          <a:prstGeom prst="roundRect">
            <a:avLst>
              <a:gd name="adj" fmla="val 5556"/>
            </a:avLst>
          </a:prstGeom>
          <a:solidFill>
            <a:srgbClr val="FFFFFF"/>
          </a:solidFill>
          <a:ln w="25400">
            <a:solidFill>
              <a:srgbClr val="D4A843"/>
            </a:solidFill>
            <a:prstDash val="solid"/>
          </a:ln>
        </p:spPr>
      </p:sp>
      <p:sp>
        <p:nvSpPr>
          <p:cNvPr id="14" name="Text 12"/>
          <p:cNvSpPr/>
          <p:nvPr/>
        </p:nvSpPr>
        <p:spPr>
          <a:xfrm>
            <a:off x="548640" y="3474720"/>
            <a:ext cx="8046720" cy="274320"/>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4. Multi-task ★</a:t>
            </a:r>
            <a:endParaRPr lang="en-US" sz="1400" dirty="0"/>
          </a:p>
        </p:txBody>
      </p:sp>
      <p:sp>
        <p:nvSpPr>
          <p:cNvPr id="15" name="Text 13"/>
          <p:cNvSpPr/>
          <p:nvPr/>
        </p:nvSpPr>
        <p:spPr>
          <a:xfrm>
            <a:off x="548640" y="379476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Shared encoder predicts GDI (MSE) and a coarse severity bin (cross-entropy). Aux task can regularise features.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Architecture — Layer-level detail</a:t>
            </a:r>
            <a:endParaRPr lang="en-US" sz="2000" dirty="0"/>
          </a:p>
        </p:txBody>
      </p:sp>
      <p:sp>
        <p:nvSpPr>
          <p:cNvPr id="4" name="Shape 2"/>
          <p:cNvSpPr/>
          <p:nvPr/>
        </p:nvSpPr>
        <p:spPr>
          <a:xfrm>
            <a:off x="228600" y="685800"/>
            <a:ext cx="1691640" cy="3200400"/>
          </a:xfrm>
          <a:prstGeom prst="roundRect">
            <a:avLst>
              <a:gd name="adj" fmla="val 3243"/>
            </a:avLst>
          </a:prstGeom>
          <a:solidFill>
            <a:srgbClr val="1B2A4A"/>
          </a:solidFill>
          <a:ln/>
        </p:spPr>
      </p:sp>
      <p:sp>
        <p:nvSpPr>
          <p:cNvPr id="5" name="Text 3"/>
          <p:cNvSpPr/>
          <p:nvPr/>
        </p:nvSpPr>
        <p:spPr>
          <a:xfrm>
            <a:off x="228600" y="868680"/>
            <a:ext cx="1691640" cy="365760"/>
          </a:xfrm>
          <a:prstGeom prst="rect">
            <a:avLst/>
          </a:prstGeom>
          <a:noFill/>
          <a:ln/>
        </p:spPr>
        <p:txBody>
          <a:bodyPr wrap="square" rtlCol="0" anchor="ctr"/>
          <a:lstStyle/>
          <a:p>
            <a:pPr algn="ctr" indent="0" marL="0">
              <a:buNone/>
            </a:pPr>
            <a:r>
              <a:rPr lang="en-US" sz="1300" b="1" dirty="0">
                <a:solidFill>
                  <a:srgbClr val="D4A843"/>
                </a:solidFill>
                <a:latin typeface="Century Gothic" pitchFamily="34" charset="0"/>
                <a:ea typeface="Century Gothic" pitchFamily="34" charset="-122"/>
                <a:cs typeface="Century Gothic" pitchFamily="34" charset="-120"/>
              </a:rPr>
              <a:t>Input</a:t>
            </a:r>
            <a:endParaRPr lang="en-US" sz="1300" dirty="0"/>
          </a:p>
        </p:txBody>
      </p:sp>
      <p:sp>
        <p:nvSpPr>
          <p:cNvPr id="6" name="Text 4"/>
          <p:cNvSpPr/>
          <p:nvPr/>
        </p:nvSpPr>
        <p:spPr>
          <a:xfrm>
            <a:off x="301752" y="1371600"/>
            <a:ext cx="1554480" cy="22860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Shape (B, 10, 3, H, W)</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10 IUV frames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RGB = I,U,V channels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Resized (e.g. 64×64)</a:t>
            </a:r>
            <a:endParaRPr lang="en-US" sz="1100" dirty="0"/>
          </a:p>
        </p:txBody>
      </p:sp>
      <p:sp>
        <p:nvSpPr>
          <p:cNvPr id="7" name="Shape 5"/>
          <p:cNvSpPr/>
          <p:nvPr/>
        </p:nvSpPr>
        <p:spPr>
          <a:xfrm>
            <a:off x="2011680" y="685800"/>
            <a:ext cx="1691640" cy="3200400"/>
          </a:xfrm>
          <a:prstGeom prst="roundRect">
            <a:avLst>
              <a:gd name="adj" fmla="val 3243"/>
            </a:avLst>
          </a:prstGeom>
          <a:solidFill>
            <a:srgbClr val="1B2A4A"/>
          </a:solidFill>
          <a:ln/>
        </p:spPr>
      </p:sp>
      <p:sp>
        <p:nvSpPr>
          <p:cNvPr id="8" name="Text 6"/>
          <p:cNvSpPr/>
          <p:nvPr/>
        </p:nvSpPr>
        <p:spPr>
          <a:xfrm>
            <a:off x="2011680" y="868680"/>
            <a:ext cx="1691640" cy="365760"/>
          </a:xfrm>
          <a:prstGeom prst="rect">
            <a:avLst/>
          </a:prstGeom>
          <a:noFill/>
          <a:ln/>
        </p:spPr>
        <p:txBody>
          <a:bodyPr wrap="square" rtlCol="0" anchor="ctr"/>
          <a:lstStyle/>
          <a:p>
            <a:pPr algn="ctr" indent="0" marL="0">
              <a:buNone/>
            </a:pPr>
            <a:r>
              <a:rPr lang="en-US" sz="1300" b="1" dirty="0">
                <a:solidFill>
                  <a:srgbClr val="D4A843"/>
                </a:solidFill>
                <a:latin typeface="Century Gothic" pitchFamily="34" charset="0"/>
                <a:ea typeface="Century Gothic" pitchFamily="34" charset="-122"/>
                <a:cs typeface="Century Gothic" pitchFamily="34" charset="-120"/>
              </a:rPr>
              <a:t>Frame CNN</a:t>
            </a:r>
            <a:endParaRPr lang="en-US" sz="1300" dirty="0"/>
          </a:p>
        </p:txBody>
      </p:sp>
      <p:sp>
        <p:nvSpPr>
          <p:cNvPr id="9" name="Text 7"/>
          <p:cNvSpPr/>
          <p:nvPr/>
        </p:nvSpPr>
        <p:spPr>
          <a:xfrm>
            <a:off x="2084832" y="1371600"/>
            <a:ext cx="1554480" cy="22860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Conv–BN–ReLU ×3</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MaxPool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AdaptiveAvgPool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128-d vector / frame</a:t>
            </a:r>
            <a:endParaRPr lang="en-US" sz="1100" dirty="0"/>
          </a:p>
        </p:txBody>
      </p:sp>
      <p:sp>
        <p:nvSpPr>
          <p:cNvPr id="10" name="Shape 8"/>
          <p:cNvSpPr/>
          <p:nvPr/>
        </p:nvSpPr>
        <p:spPr>
          <a:xfrm>
            <a:off x="3794760" y="685800"/>
            <a:ext cx="1691640" cy="3200400"/>
          </a:xfrm>
          <a:prstGeom prst="roundRect">
            <a:avLst>
              <a:gd name="adj" fmla="val 3243"/>
            </a:avLst>
          </a:prstGeom>
          <a:solidFill>
            <a:srgbClr val="1B2A4A"/>
          </a:solidFill>
          <a:ln/>
        </p:spPr>
      </p:sp>
      <p:sp>
        <p:nvSpPr>
          <p:cNvPr id="11" name="Text 9"/>
          <p:cNvSpPr/>
          <p:nvPr/>
        </p:nvSpPr>
        <p:spPr>
          <a:xfrm>
            <a:off x="3794760" y="868680"/>
            <a:ext cx="1691640" cy="365760"/>
          </a:xfrm>
          <a:prstGeom prst="rect">
            <a:avLst/>
          </a:prstGeom>
          <a:noFill/>
          <a:ln/>
        </p:spPr>
        <p:txBody>
          <a:bodyPr wrap="square" rtlCol="0" anchor="ctr"/>
          <a:lstStyle/>
          <a:p>
            <a:pPr algn="ctr" indent="0" marL="0">
              <a:buNone/>
            </a:pPr>
            <a:r>
              <a:rPr lang="en-US" sz="1300" b="1" dirty="0">
                <a:solidFill>
                  <a:srgbClr val="D4A843"/>
                </a:solidFill>
                <a:latin typeface="Century Gothic" pitchFamily="34" charset="0"/>
                <a:ea typeface="Century Gothic" pitchFamily="34" charset="-122"/>
                <a:cs typeface="Century Gothic" pitchFamily="34" charset="-120"/>
              </a:rPr>
              <a:t>BiLSTM</a:t>
            </a:r>
            <a:endParaRPr lang="en-US" sz="1300" dirty="0"/>
          </a:p>
        </p:txBody>
      </p:sp>
      <p:sp>
        <p:nvSpPr>
          <p:cNvPr id="12" name="Text 10"/>
          <p:cNvSpPr/>
          <p:nvPr/>
        </p:nvSpPr>
        <p:spPr>
          <a:xfrm>
            <a:off x="3867912" y="1371600"/>
            <a:ext cx="1554480" cy="22860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2 layers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Hidden 128</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Bidirectional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256-d / timestep</a:t>
            </a:r>
            <a:endParaRPr lang="en-US" sz="1100" dirty="0"/>
          </a:p>
        </p:txBody>
      </p:sp>
      <p:sp>
        <p:nvSpPr>
          <p:cNvPr id="13" name="Shape 11"/>
          <p:cNvSpPr/>
          <p:nvPr/>
        </p:nvSpPr>
        <p:spPr>
          <a:xfrm>
            <a:off x="5577840" y="685800"/>
            <a:ext cx="1691640" cy="3200400"/>
          </a:xfrm>
          <a:prstGeom prst="roundRect">
            <a:avLst>
              <a:gd name="adj" fmla="val 3243"/>
            </a:avLst>
          </a:prstGeom>
          <a:solidFill>
            <a:srgbClr val="0E7C86"/>
          </a:solidFill>
          <a:ln/>
        </p:spPr>
      </p:sp>
      <p:sp>
        <p:nvSpPr>
          <p:cNvPr id="14" name="Text 12"/>
          <p:cNvSpPr/>
          <p:nvPr/>
        </p:nvSpPr>
        <p:spPr>
          <a:xfrm>
            <a:off x="5577840" y="868680"/>
            <a:ext cx="1691640" cy="365760"/>
          </a:xfrm>
          <a:prstGeom prst="rect">
            <a:avLst/>
          </a:prstGeom>
          <a:noFill/>
          <a:ln/>
        </p:spPr>
        <p:txBody>
          <a:bodyPr wrap="square" rtlCol="0" anchor="ctr"/>
          <a:lstStyle/>
          <a:p>
            <a:pPr algn="ctr" indent="0" marL="0">
              <a:buNone/>
            </a:pPr>
            <a:r>
              <a:rPr lang="en-US" sz="1300" b="1" dirty="0">
                <a:solidFill>
                  <a:srgbClr val="D4A843"/>
                </a:solidFill>
                <a:latin typeface="Century Gothic" pitchFamily="34" charset="0"/>
                <a:ea typeface="Century Gothic" pitchFamily="34" charset="-122"/>
                <a:cs typeface="Century Gothic" pitchFamily="34" charset="-120"/>
              </a:rPr>
              <a:t>Pooling</a:t>
            </a:r>
            <a:endParaRPr lang="en-US" sz="1300" dirty="0"/>
          </a:p>
        </p:txBody>
      </p:sp>
      <p:sp>
        <p:nvSpPr>
          <p:cNvPr id="15" name="Text 13"/>
          <p:cNvSpPr/>
          <p:nvPr/>
        </p:nvSpPr>
        <p:spPr>
          <a:xfrm>
            <a:off x="5650992" y="1371600"/>
            <a:ext cx="1554480" cy="22860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Baseline: last step</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Ours: attention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over all 10 steps</a:t>
            </a:r>
            <a:endParaRPr lang="en-US" sz="1100" dirty="0"/>
          </a:p>
        </p:txBody>
      </p:sp>
      <p:sp>
        <p:nvSpPr>
          <p:cNvPr id="16" name="Shape 14"/>
          <p:cNvSpPr/>
          <p:nvPr/>
        </p:nvSpPr>
        <p:spPr>
          <a:xfrm>
            <a:off x="7360920" y="685800"/>
            <a:ext cx="1691640" cy="3200400"/>
          </a:xfrm>
          <a:prstGeom prst="roundRect">
            <a:avLst>
              <a:gd name="adj" fmla="val 3243"/>
            </a:avLst>
          </a:prstGeom>
          <a:solidFill>
            <a:srgbClr val="1B2A4A"/>
          </a:solidFill>
          <a:ln/>
        </p:spPr>
      </p:sp>
      <p:sp>
        <p:nvSpPr>
          <p:cNvPr id="17" name="Text 15"/>
          <p:cNvSpPr/>
          <p:nvPr/>
        </p:nvSpPr>
        <p:spPr>
          <a:xfrm>
            <a:off x="7360920" y="868680"/>
            <a:ext cx="1691640" cy="365760"/>
          </a:xfrm>
          <a:prstGeom prst="rect">
            <a:avLst/>
          </a:prstGeom>
          <a:noFill/>
          <a:ln/>
        </p:spPr>
        <p:txBody>
          <a:bodyPr wrap="square" rtlCol="0" anchor="ctr"/>
          <a:lstStyle/>
          <a:p>
            <a:pPr algn="ctr" indent="0" marL="0">
              <a:buNone/>
            </a:pPr>
            <a:r>
              <a:rPr lang="en-US" sz="1300" b="1" dirty="0">
                <a:solidFill>
                  <a:srgbClr val="D4A843"/>
                </a:solidFill>
                <a:latin typeface="Century Gothic" pitchFamily="34" charset="0"/>
                <a:ea typeface="Century Gothic" pitchFamily="34" charset="-122"/>
                <a:cs typeface="Century Gothic" pitchFamily="34" charset="-120"/>
              </a:rPr>
              <a:t>Heads</a:t>
            </a:r>
            <a:endParaRPr lang="en-US" sz="1300" dirty="0"/>
          </a:p>
        </p:txBody>
      </p:sp>
      <p:sp>
        <p:nvSpPr>
          <p:cNvPr id="18" name="Text 16"/>
          <p:cNvSpPr/>
          <p:nvPr/>
        </p:nvSpPr>
        <p:spPr>
          <a:xfrm>
            <a:off x="7434072" y="1371600"/>
            <a:ext cx="1554480" cy="22860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Linear → 1 (GDI)</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Optional: 3-way</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severity logits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Training setup</a:t>
            </a:r>
            <a:endParaRPr lang="en-US" sz="2000" dirty="0"/>
          </a:p>
        </p:txBody>
      </p:sp>
      <p:sp>
        <p:nvSpPr>
          <p:cNvPr id="4" name="Shape 2"/>
          <p:cNvSpPr/>
          <p:nvPr/>
        </p:nvSpPr>
        <p:spPr>
          <a:xfrm>
            <a:off x="365760" y="640080"/>
            <a:ext cx="2377440" cy="457200"/>
          </a:xfrm>
          <a:prstGeom prst="rect">
            <a:avLst/>
          </a:prstGeom>
          <a:solidFill>
            <a:srgbClr val="1B2A4A"/>
          </a:solidFill>
          <a:ln/>
        </p:spPr>
      </p:sp>
      <p:sp>
        <p:nvSpPr>
          <p:cNvPr id="5" name="Shape 3"/>
          <p:cNvSpPr/>
          <p:nvPr/>
        </p:nvSpPr>
        <p:spPr>
          <a:xfrm>
            <a:off x="2743200" y="640080"/>
            <a:ext cx="6035040" cy="457200"/>
          </a:xfrm>
          <a:prstGeom prst="rect">
            <a:avLst/>
          </a:prstGeom>
          <a:solidFill>
            <a:srgbClr val="1B2A4A"/>
          </a:solidFill>
          <a:ln/>
        </p:spPr>
      </p:sp>
      <p:sp>
        <p:nvSpPr>
          <p:cNvPr id="6" name="Text 4"/>
          <p:cNvSpPr/>
          <p:nvPr/>
        </p:nvSpPr>
        <p:spPr>
          <a:xfrm>
            <a:off x="457200" y="731520"/>
            <a:ext cx="2194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p>
        </p:txBody>
      </p:sp>
      <p:sp>
        <p:nvSpPr>
          <p:cNvPr id="7" name="Text 5"/>
          <p:cNvSpPr/>
          <p:nvPr/>
        </p:nvSpPr>
        <p:spPr>
          <a:xfrm>
            <a:off x="2834640" y="731520"/>
            <a:ext cx="585216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Setting</a:t>
            </a:r>
            <a:endParaRPr lang="en-US" sz="1200" dirty="0"/>
          </a:p>
        </p:txBody>
      </p:sp>
      <p:sp>
        <p:nvSpPr>
          <p:cNvPr id="8" name="Shape 6"/>
          <p:cNvSpPr/>
          <p:nvPr/>
        </p:nvSpPr>
        <p:spPr>
          <a:xfrm>
            <a:off x="365760" y="1097280"/>
            <a:ext cx="2377440" cy="457200"/>
          </a:xfrm>
          <a:prstGeom prst="rect">
            <a:avLst/>
          </a:prstGeom>
          <a:solidFill>
            <a:srgbClr val="FFFFFF"/>
          </a:solidFill>
          <a:ln/>
        </p:spPr>
      </p:sp>
      <p:sp>
        <p:nvSpPr>
          <p:cNvPr id="9" name="Shape 7"/>
          <p:cNvSpPr/>
          <p:nvPr/>
        </p:nvSpPr>
        <p:spPr>
          <a:xfrm>
            <a:off x="2743200" y="1097280"/>
            <a:ext cx="6035040" cy="457200"/>
          </a:xfrm>
          <a:prstGeom prst="rect">
            <a:avLst/>
          </a:prstGeom>
          <a:solidFill>
            <a:srgbClr val="FFFFFF"/>
          </a:solidFill>
          <a:ln/>
        </p:spPr>
      </p:sp>
      <p:sp>
        <p:nvSpPr>
          <p:cNvPr id="10" name="Text 8"/>
          <p:cNvSpPr/>
          <p:nvPr/>
        </p:nvSpPr>
        <p:spPr>
          <a:xfrm>
            <a:off x="457200" y="11887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Loss (main)</a:t>
            </a:r>
            <a:endParaRPr lang="en-US" sz="1200" dirty="0"/>
          </a:p>
        </p:txBody>
      </p:sp>
      <p:sp>
        <p:nvSpPr>
          <p:cNvPr id="11" name="Text 9"/>
          <p:cNvSpPr/>
          <p:nvPr/>
        </p:nvSpPr>
        <p:spPr>
          <a:xfrm>
            <a:off x="2834640" y="11887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Mean Squared Error on GDI</a:t>
            </a:r>
            <a:endParaRPr lang="en-US" sz="1200" dirty="0"/>
          </a:p>
        </p:txBody>
      </p:sp>
      <p:sp>
        <p:nvSpPr>
          <p:cNvPr id="12" name="Shape 10"/>
          <p:cNvSpPr/>
          <p:nvPr/>
        </p:nvSpPr>
        <p:spPr>
          <a:xfrm>
            <a:off x="365760" y="1554480"/>
            <a:ext cx="2377440" cy="457200"/>
          </a:xfrm>
          <a:prstGeom prst="rect">
            <a:avLst/>
          </a:prstGeom>
          <a:solidFill>
            <a:srgbClr val="F5F5F0"/>
          </a:solidFill>
          <a:ln/>
        </p:spPr>
      </p:sp>
      <p:sp>
        <p:nvSpPr>
          <p:cNvPr id="13" name="Shape 11"/>
          <p:cNvSpPr/>
          <p:nvPr/>
        </p:nvSpPr>
        <p:spPr>
          <a:xfrm>
            <a:off x="2743200" y="1554480"/>
            <a:ext cx="6035040" cy="457200"/>
          </a:xfrm>
          <a:prstGeom prst="rect">
            <a:avLst/>
          </a:prstGeom>
          <a:solidFill>
            <a:srgbClr val="F5F5F0"/>
          </a:solidFill>
          <a:ln/>
        </p:spPr>
      </p:sp>
      <p:sp>
        <p:nvSpPr>
          <p:cNvPr id="14" name="Text 12"/>
          <p:cNvSpPr/>
          <p:nvPr/>
        </p:nvSpPr>
        <p:spPr>
          <a:xfrm>
            <a:off x="457200" y="16459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Loss (multi-task)</a:t>
            </a:r>
            <a:endParaRPr lang="en-US" sz="1200" dirty="0"/>
          </a:p>
        </p:txBody>
      </p:sp>
      <p:sp>
        <p:nvSpPr>
          <p:cNvPr id="15" name="Text 13"/>
          <p:cNvSpPr/>
          <p:nvPr/>
        </p:nvSpPr>
        <p:spPr>
          <a:xfrm>
            <a:off x="2834640" y="16459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MSE + 0.3 × CrossEntropy on severity bins (GDI &lt;70 / 70–90 / ≥90)</a:t>
            </a:r>
            <a:endParaRPr lang="en-US" sz="1200" dirty="0"/>
          </a:p>
        </p:txBody>
      </p:sp>
      <p:sp>
        <p:nvSpPr>
          <p:cNvPr id="16" name="Shape 14"/>
          <p:cNvSpPr/>
          <p:nvPr/>
        </p:nvSpPr>
        <p:spPr>
          <a:xfrm>
            <a:off x="365760" y="2011680"/>
            <a:ext cx="2377440" cy="457200"/>
          </a:xfrm>
          <a:prstGeom prst="rect">
            <a:avLst/>
          </a:prstGeom>
          <a:solidFill>
            <a:srgbClr val="FFFFFF"/>
          </a:solidFill>
          <a:ln/>
        </p:spPr>
      </p:sp>
      <p:sp>
        <p:nvSpPr>
          <p:cNvPr id="17" name="Shape 15"/>
          <p:cNvSpPr/>
          <p:nvPr/>
        </p:nvSpPr>
        <p:spPr>
          <a:xfrm>
            <a:off x="2743200" y="2011680"/>
            <a:ext cx="6035040" cy="457200"/>
          </a:xfrm>
          <a:prstGeom prst="rect">
            <a:avLst/>
          </a:prstGeom>
          <a:solidFill>
            <a:srgbClr val="FFFFFF"/>
          </a:solidFill>
          <a:ln/>
        </p:spPr>
      </p:sp>
      <p:sp>
        <p:nvSpPr>
          <p:cNvPr id="18" name="Text 16"/>
          <p:cNvSpPr/>
          <p:nvPr/>
        </p:nvSpPr>
        <p:spPr>
          <a:xfrm>
            <a:off x="457200" y="21031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Optimiser</a:t>
            </a:r>
            <a:endParaRPr lang="en-US" sz="1200" dirty="0"/>
          </a:p>
        </p:txBody>
      </p:sp>
      <p:sp>
        <p:nvSpPr>
          <p:cNvPr id="19" name="Text 17"/>
          <p:cNvSpPr/>
          <p:nvPr/>
        </p:nvSpPr>
        <p:spPr>
          <a:xfrm>
            <a:off x="2834640" y="21031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Adam, lr = 1e-4, weight decay = 1e-5</a:t>
            </a:r>
            <a:endParaRPr lang="en-US" sz="1200" dirty="0"/>
          </a:p>
        </p:txBody>
      </p:sp>
      <p:sp>
        <p:nvSpPr>
          <p:cNvPr id="20" name="Shape 18"/>
          <p:cNvSpPr/>
          <p:nvPr/>
        </p:nvSpPr>
        <p:spPr>
          <a:xfrm>
            <a:off x="365760" y="2468880"/>
            <a:ext cx="2377440" cy="457200"/>
          </a:xfrm>
          <a:prstGeom prst="rect">
            <a:avLst/>
          </a:prstGeom>
          <a:solidFill>
            <a:srgbClr val="F5F5F0"/>
          </a:solidFill>
          <a:ln/>
        </p:spPr>
      </p:sp>
      <p:sp>
        <p:nvSpPr>
          <p:cNvPr id="21" name="Shape 19"/>
          <p:cNvSpPr/>
          <p:nvPr/>
        </p:nvSpPr>
        <p:spPr>
          <a:xfrm>
            <a:off x="2743200" y="2468880"/>
            <a:ext cx="6035040" cy="457200"/>
          </a:xfrm>
          <a:prstGeom prst="rect">
            <a:avLst/>
          </a:prstGeom>
          <a:solidFill>
            <a:srgbClr val="F5F5F0"/>
          </a:solidFill>
          <a:ln/>
        </p:spPr>
      </p:sp>
      <p:sp>
        <p:nvSpPr>
          <p:cNvPr id="22" name="Text 20"/>
          <p:cNvSpPr/>
          <p:nvPr/>
        </p:nvSpPr>
        <p:spPr>
          <a:xfrm>
            <a:off x="457200" y="25603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Regularisation</a:t>
            </a:r>
            <a:endParaRPr lang="en-US" sz="1200" dirty="0"/>
          </a:p>
        </p:txBody>
      </p:sp>
      <p:sp>
        <p:nvSpPr>
          <p:cNvPr id="23" name="Text 21"/>
          <p:cNvSpPr/>
          <p:nvPr/>
        </p:nvSpPr>
        <p:spPr>
          <a:xfrm>
            <a:off x="2834640" y="25603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Dropout 0.3, BatchNorm in CNN, early stopping (patience 8) on val RMSE</a:t>
            </a:r>
            <a:endParaRPr lang="en-US" sz="1200" dirty="0"/>
          </a:p>
        </p:txBody>
      </p:sp>
      <p:sp>
        <p:nvSpPr>
          <p:cNvPr id="24" name="Shape 22"/>
          <p:cNvSpPr/>
          <p:nvPr/>
        </p:nvSpPr>
        <p:spPr>
          <a:xfrm>
            <a:off x="365760" y="2926080"/>
            <a:ext cx="2377440" cy="457200"/>
          </a:xfrm>
          <a:prstGeom prst="rect">
            <a:avLst/>
          </a:prstGeom>
          <a:solidFill>
            <a:srgbClr val="FFFFFF"/>
          </a:solidFill>
          <a:ln/>
        </p:spPr>
      </p:sp>
      <p:sp>
        <p:nvSpPr>
          <p:cNvPr id="25" name="Shape 23"/>
          <p:cNvSpPr/>
          <p:nvPr/>
        </p:nvSpPr>
        <p:spPr>
          <a:xfrm>
            <a:off x="2743200" y="2926080"/>
            <a:ext cx="6035040" cy="457200"/>
          </a:xfrm>
          <a:prstGeom prst="rect">
            <a:avLst/>
          </a:prstGeom>
          <a:solidFill>
            <a:srgbClr val="FFFFFF"/>
          </a:solidFill>
          <a:ln/>
        </p:spPr>
      </p:sp>
      <p:sp>
        <p:nvSpPr>
          <p:cNvPr id="26" name="Text 24"/>
          <p:cNvSpPr/>
          <p:nvPr/>
        </p:nvSpPr>
        <p:spPr>
          <a:xfrm>
            <a:off x="457200" y="30175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Batch size</a:t>
            </a:r>
            <a:endParaRPr lang="en-US" sz="1200" dirty="0"/>
          </a:p>
        </p:txBody>
      </p:sp>
      <p:sp>
        <p:nvSpPr>
          <p:cNvPr id="27" name="Text 25"/>
          <p:cNvSpPr/>
          <p:nvPr/>
        </p:nvSpPr>
        <p:spPr>
          <a:xfrm>
            <a:off x="2834640" y="30175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16 sequences</a:t>
            </a:r>
            <a:endParaRPr lang="en-US" sz="1200" dirty="0"/>
          </a:p>
        </p:txBody>
      </p:sp>
      <p:sp>
        <p:nvSpPr>
          <p:cNvPr id="28" name="Shape 26"/>
          <p:cNvSpPr/>
          <p:nvPr/>
        </p:nvSpPr>
        <p:spPr>
          <a:xfrm>
            <a:off x="365760" y="3383280"/>
            <a:ext cx="2377440" cy="457200"/>
          </a:xfrm>
          <a:prstGeom prst="rect">
            <a:avLst/>
          </a:prstGeom>
          <a:solidFill>
            <a:srgbClr val="F5F5F0"/>
          </a:solidFill>
          <a:ln/>
        </p:spPr>
      </p:sp>
      <p:sp>
        <p:nvSpPr>
          <p:cNvPr id="29" name="Shape 27"/>
          <p:cNvSpPr/>
          <p:nvPr/>
        </p:nvSpPr>
        <p:spPr>
          <a:xfrm>
            <a:off x="2743200" y="3383280"/>
            <a:ext cx="6035040" cy="457200"/>
          </a:xfrm>
          <a:prstGeom prst="rect">
            <a:avLst/>
          </a:prstGeom>
          <a:solidFill>
            <a:srgbClr val="F5F5F0"/>
          </a:solidFill>
          <a:ln/>
        </p:spPr>
      </p:sp>
      <p:sp>
        <p:nvSpPr>
          <p:cNvPr id="30" name="Text 28"/>
          <p:cNvSpPr/>
          <p:nvPr/>
        </p:nvSpPr>
        <p:spPr>
          <a:xfrm>
            <a:off x="457200" y="34747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Sequence length</a:t>
            </a:r>
            <a:endParaRPr lang="en-US" sz="1200" dirty="0"/>
          </a:p>
        </p:txBody>
      </p:sp>
      <p:sp>
        <p:nvSpPr>
          <p:cNvPr id="31" name="Text 29"/>
          <p:cNvSpPr/>
          <p:nvPr/>
        </p:nvSpPr>
        <p:spPr>
          <a:xfrm>
            <a:off x="2834640" y="34747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10 frames (same order of magnitude as the paper)</a:t>
            </a:r>
            <a:endParaRPr lang="en-US" sz="1200" dirty="0"/>
          </a:p>
        </p:txBody>
      </p:sp>
      <p:sp>
        <p:nvSpPr>
          <p:cNvPr id="32" name="Shape 30"/>
          <p:cNvSpPr/>
          <p:nvPr/>
        </p:nvSpPr>
        <p:spPr>
          <a:xfrm>
            <a:off x="365760" y="3840480"/>
            <a:ext cx="2377440" cy="457200"/>
          </a:xfrm>
          <a:prstGeom prst="rect">
            <a:avLst/>
          </a:prstGeom>
          <a:solidFill>
            <a:srgbClr val="FFFFFF"/>
          </a:solidFill>
          <a:ln/>
        </p:spPr>
      </p:sp>
      <p:sp>
        <p:nvSpPr>
          <p:cNvPr id="33" name="Shape 31"/>
          <p:cNvSpPr/>
          <p:nvPr/>
        </p:nvSpPr>
        <p:spPr>
          <a:xfrm>
            <a:off x="2743200" y="3840480"/>
            <a:ext cx="6035040" cy="457200"/>
          </a:xfrm>
          <a:prstGeom prst="rect">
            <a:avLst/>
          </a:prstGeom>
          <a:solidFill>
            <a:srgbClr val="FFFFFF"/>
          </a:solidFill>
          <a:ln/>
        </p:spPr>
      </p:sp>
      <p:sp>
        <p:nvSpPr>
          <p:cNvPr id="34" name="Text 32"/>
          <p:cNvSpPr/>
          <p:nvPr/>
        </p:nvSpPr>
        <p:spPr>
          <a:xfrm>
            <a:off x="457200" y="3931920"/>
            <a:ext cx="2194560" cy="27432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Hardware</a:t>
            </a:r>
            <a:endParaRPr lang="en-US" sz="1200" dirty="0"/>
          </a:p>
        </p:txBody>
      </p:sp>
      <p:sp>
        <p:nvSpPr>
          <p:cNvPr id="35" name="Text 33"/>
          <p:cNvSpPr/>
          <p:nvPr/>
        </p:nvSpPr>
        <p:spPr>
          <a:xfrm>
            <a:off x="2834640" y="3931920"/>
            <a:ext cx="5852160" cy="2743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CUDA if available, else CPU; start with small CSV subset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Evaluation metrics &amp; plots</a:t>
            </a:r>
            <a:endParaRPr lang="en-US" sz="2000" dirty="0"/>
          </a:p>
        </p:txBody>
      </p:sp>
      <p:sp>
        <p:nvSpPr>
          <p:cNvPr id="4" name="Shape 2"/>
          <p:cNvSpPr/>
          <p:nvPr/>
        </p:nvSpPr>
        <p:spPr>
          <a:xfrm>
            <a:off x="365760" y="685800"/>
            <a:ext cx="4114800" cy="1691640"/>
          </a:xfrm>
          <a:prstGeom prst="roundRect">
            <a:avLst>
              <a:gd name="adj" fmla="val 2703"/>
            </a:avLst>
          </a:prstGeom>
          <a:solidFill>
            <a:srgbClr val="FFFFFF"/>
          </a:solidFill>
          <a:ln w="12700">
            <a:solidFill>
              <a:srgbClr val="E8E4DD"/>
            </a:solidFill>
            <a:prstDash val="solid"/>
          </a:ln>
        </p:spPr>
      </p:sp>
      <p:sp>
        <p:nvSpPr>
          <p:cNvPr id="5" name="Text 3"/>
          <p:cNvSpPr/>
          <p:nvPr/>
        </p:nvSpPr>
        <p:spPr>
          <a:xfrm>
            <a:off x="548640" y="868680"/>
            <a:ext cx="3749040" cy="32004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RMSE</a:t>
            </a:r>
            <a:endParaRPr lang="en-US" sz="1500" dirty="0"/>
          </a:p>
        </p:txBody>
      </p:sp>
      <p:sp>
        <p:nvSpPr>
          <p:cNvPr id="6" name="Text 4"/>
          <p:cNvSpPr/>
          <p:nvPr/>
        </p:nvSpPr>
        <p:spPr>
          <a:xfrm>
            <a:off x="548640" y="1280160"/>
            <a:ext cx="3749040" cy="9144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Root Mean Squared Error between predicted and true GDI. Primary metric (paper uses this). Lower is better.</a:t>
            </a:r>
            <a:endParaRPr lang="en-US" sz="1300" dirty="0"/>
          </a:p>
        </p:txBody>
      </p:sp>
      <p:sp>
        <p:nvSpPr>
          <p:cNvPr id="7" name="Shape 5"/>
          <p:cNvSpPr/>
          <p:nvPr/>
        </p:nvSpPr>
        <p:spPr>
          <a:xfrm>
            <a:off x="4663440" y="685800"/>
            <a:ext cx="4114800" cy="1691640"/>
          </a:xfrm>
          <a:prstGeom prst="roundRect">
            <a:avLst>
              <a:gd name="adj" fmla="val 2703"/>
            </a:avLst>
          </a:prstGeom>
          <a:solidFill>
            <a:srgbClr val="FFFFFF"/>
          </a:solidFill>
          <a:ln w="12700">
            <a:solidFill>
              <a:srgbClr val="E8E4DD"/>
            </a:solidFill>
            <a:prstDash val="solid"/>
          </a:ln>
        </p:spPr>
      </p:sp>
      <p:sp>
        <p:nvSpPr>
          <p:cNvPr id="8" name="Text 6"/>
          <p:cNvSpPr/>
          <p:nvPr/>
        </p:nvSpPr>
        <p:spPr>
          <a:xfrm>
            <a:off x="4846320" y="868680"/>
            <a:ext cx="3749040" cy="32004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Scatter plot</a:t>
            </a:r>
            <a:endParaRPr lang="en-US" sz="1500" dirty="0"/>
          </a:p>
        </p:txBody>
      </p:sp>
      <p:sp>
        <p:nvSpPr>
          <p:cNvPr id="9" name="Text 7"/>
          <p:cNvSpPr/>
          <p:nvPr/>
        </p:nvSpPr>
        <p:spPr>
          <a:xfrm>
            <a:off x="4846320" y="1280160"/>
            <a:ext cx="3749040" cy="9144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Predicted GDI vs true GDI. Points near the diagonal mean good calibration across the score range.</a:t>
            </a:r>
            <a:endParaRPr lang="en-US" sz="1300" dirty="0"/>
          </a:p>
        </p:txBody>
      </p:sp>
      <p:sp>
        <p:nvSpPr>
          <p:cNvPr id="10" name="Shape 8"/>
          <p:cNvSpPr/>
          <p:nvPr/>
        </p:nvSpPr>
        <p:spPr>
          <a:xfrm>
            <a:off x="365760" y="2514600"/>
            <a:ext cx="4114800" cy="1691640"/>
          </a:xfrm>
          <a:prstGeom prst="roundRect">
            <a:avLst>
              <a:gd name="adj" fmla="val 2703"/>
            </a:avLst>
          </a:prstGeom>
          <a:solidFill>
            <a:srgbClr val="FFFFFF"/>
          </a:solidFill>
          <a:ln w="12700">
            <a:solidFill>
              <a:srgbClr val="E8E4DD"/>
            </a:solidFill>
            <a:prstDash val="solid"/>
          </a:ln>
        </p:spPr>
      </p:sp>
      <p:sp>
        <p:nvSpPr>
          <p:cNvPr id="11" name="Text 9"/>
          <p:cNvSpPr/>
          <p:nvPr/>
        </p:nvSpPr>
        <p:spPr>
          <a:xfrm>
            <a:off x="548640" y="2697480"/>
            <a:ext cx="3749040" cy="32004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Residual histogram</a:t>
            </a:r>
            <a:endParaRPr lang="en-US" sz="1500" dirty="0"/>
          </a:p>
        </p:txBody>
      </p:sp>
      <p:sp>
        <p:nvSpPr>
          <p:cNvPr id="12" name="Text 10"/>
          <p:cNvSpPr/>
          <p:nvPr/>
        </p:nvSpPr>
        <p:spPr>
          <a:xfrm>
            <a:off x="548640" y="3108960"/>
            <a:ext cx="3749040" cy="9144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Distribution of (pred − true). Check bias and heavy tails.</a:t>
            </a:r>
            <a:endParaRPr lang="en-US" sz="1300" dirty="0"/>
          </a:p>
        </p:txBody>
      </p:sp>
      <p:sp>
        <p:nvSpPr>
          <p:cNvPr id="13" name="Shape 11"/>
          <p:cNvSpPr/>
          <p:nvPr/>
        </p:nvSpPr>
        <p:spPr>
          <a:xfrm>
            <a:off x="4663440" y="2514600"/>
            <a:ext cx="4114800" cy="1691640"/>
          </a:xfrm>
          <a:prstGeom prst="roundRect">
            <a:avLst>
              <a:gd name="adj" fmla="val 2703"/>
            </a:avLst>
          </a:prstGeom>
          <a:solidFill>
            <a:srgbClr val="FFFFFF"/>
          </a:solidFill>
          <a:ln w="12700">
            <a:solidFill>
              <a:srgbClr val="E8E4DD"/>
            </a:solidFill>
            <a:prstDash val="solid"/>
          </a:ln>
        </p:spPr>
      </p:sp>
      <p:sp>
        <p:nvSpPr>
          <p:cNvPr id="14" name="Text 12"/>
          <p:cNvSpPr/>
          <p:nvPr/>
        </p:nvSpPr>
        <p:spPr>
          <a:xfrm>
            <a:off x="4846320" y="2697480"/>
            <a:ext cx="3749040" cy="32004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Learning curves</a:t>
            </a:r>
            <a:endParaRPr lang="en-US" sz="1500" dirty="0"/>
          </a:p>
        </p:txBody>
      </p:sp>
      <p:sp>
        <p:nvSpPr>
          <p:cNvPr id="15" name="Text 13"/>
          <p:cNvSpPr/>
          <p:nvPr/>
        </p:nvSpPr>
        <p:spPr>
          <a:xfrm>
            <a:off x="4846320" y="3108960"/>
            <a:ext cx="3749040" cy="91440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Train vs validation RMSE over epochs. Detect overfitting when curves diverge.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RESULTS AND PERFORMANCE</a:t>
            </a:r>
            <a:endParaRPr lang="en-US" sz="20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Fill numbers after:  python -m src.run_experiments</a:t>
            </a:r>
            <a:endParaRPr lang="en-US" sz="1300" dirty="0"/>
          </a:p>
        </p:txBody>
      </p:sp>
      <p:sp>
        <p:nvSpPr>
          <p:cNvPr id="5" name="Shape 3"/>
          <p:cNvSpPr/>
          <p:nvPr/>
        </p:nvSpPr>
        <p:spPr>
          <a:xfrm>
            <a:off x="457200" y="914400"/>
            <a:ext cx="2926080" cy="502920"/>
          </a:xfrm>
          <a:prstGeom prst="rect">
            <a:avLst/>
          </a:prstGeom>
          <a:solidFill>
            <a:srgbClr val="1B2A4A"/>
          </a:solidFill>
          <a:ln/>
        </p:spPr>
      </p:sp>
      <p:sp>
        <p:nvSpPr>
          <p:cNvPr id="6" name="Text 4"/>
          <p:cNvSpPr/>
          <p:nvPr/>
        </p:nvSpPr>
        <p:spPr>
          <a:xfrm>
            <a:off x="548640" y="1024128"/>
            <a:ext cx="2743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7" name="Shape 5"/>
          <p:cNvSpPr/>
          <p:nvPr/>
        </p:nvSpPr>
        <p:spPr>
          <a:xfrm>
            <a:off x="3383280" y="914400"/>
            <a:ext cx="2011680" cy="502920"/>
          </a:xfrm>
          <a:prstGeom prst="rect">
            <a:avLst/>
          </a:prstGeom>
          <a:solidFill>
            <a:srgbClr val="1B2A4A"/>
          </a:solidFill>
          <a:ln/>
        </p:spPr>
      </p:sp>
      <p:sp>
        <p:nvSpPr>
          <p:cNvPr id="8" name="Text 6"/>
          <p:cNvSpPr/>
          <p:nvPr/>
        </p:nvSpPr>
        <p:spPr>
          <a:xfrm>
            <a:off x="3474720" y="1024128"/>
            <a:ext cx="18288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Test RMSE</a:t>
            </a:r>
            <a:endParaRPr lang="en-US" sz="1300" dirty="0"/>
          </a:p>
        </p:txBody>
      </p:sp>
      <p:sp>
        <p:nvSpPr>
          <p:cNvPr id="9" name="Shape 7"/>
          <p:cNvSpPr/>
          <p:nvPr/>
        </p:nvSpPr>
        <p:spPr>
          <a:xfrm>
            <a:off x="5394960" y="914400"/>
            <a:ext cx="3291840" cy="502920"/>
          </a:xfrm>
          <a:prstGeom prst="rect">
            <a:avLst/>
          </a:prstGeom>
          <a:solidFill>
            <a:srgbClr val="1B2A4A"/>
          </a:solidFill>
          <a:ln/>
        </p:spPr>
      </p:sp>
      <p:sp>
        <p:nvSpPr>
          <p:cNvPr id="10" name="Text 8"/>
          <p:cNvSpPr/>
          <p:nvPr/>
        </p:nvSpPr>
        <p:spPr>
          <a:xfrm>
            <a:off x="5486400" y="1024128"/>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p>
        </p:txBody>
      </p:sp>
      <p:sp>
        <p:nvSpPr>
          <p:cNvPr id="11" name="Shape 9"/>
          <p:cNvSpPr/>
          <p:nvPr/>
        </p:nvSpPr>
        <p:spPr>
          <a:xfrm>
            <a:off x="457200" y="1417320"/>
            <a:ext cx="2926080" cy="502920"/>
          </a:xfrm>
          <a:prstGeom prst="rect">
            <a:avLst/>
          </a:prstGeom>
          <a:solidFill>
            <a:srgbClr val="FFFFFF"/>
          </a:solidFill>
          <a:ln/>
        </p:spPr>
      </p:sp>
      <p:sp>
        <p:nvSpPr>
          <p:cNvPr id="12" name="Text 10"/>
          <p:cNvSpPr/>
          <p:nvPr/>
        </p:nvSpPr>
        <p:spPr>
          <a:xfrm>
            <a:off x="548640" y="1527048"/>
            <a:ext cx="2743200" cy="32004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Linear / Ridge</a:t>
            </a:r>
            <a:endParaRPr lang="en-US" sz="1300" dirty="0"/>
          </a:p>
        </p:txBody>
      </p:sp>
      <p:sp>
        <p:nvSpPr>
          <p:cNvPr id="13" name="Shape 11"/>
          <p:cNvSpPr/>
          <p:nvPr/>
        </p:nvSpPr>
        <p:spPr>
          <a:xfrm>
            <a:off x="3383280" y="1417320"/>
            <a:ext cx="2011680" cy="502920"/>
          </a:xfrm>
          <a:prstGeom prst="rect">
            <a:avLst/>
          </a:prstGeom>
          <a:solidFill>
            <a:srgbClr val="FFFFFF"/>
          </a:solidFill>
          <a:ln/>
        </p:spPr>
      </p:sp>
      <p:sp>
        <p:nvSpPr>
          <p:cNvPr id="14" name="Text 12"/>
          <p:cNvSpPr/>
          <p:nvPr/>
        </p:nvSpPr>
        <p:spPr>
          <a:xfrm>
            <a:off x="3474720" y="1527048"/>
            <a:ext cx="182880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___</a:t>
            </a:r>
            <a:endParaRPr lang="en-US" sz="1300" dirty="0"/>
          </a:p>
        </p:txBody>
      </p:sp>
      <p:sp>
        <p:nvSpPr>
          <p:cNvPr id="15" name="Shape 13"/>
          <p:cNvSpPr/>
          <p:nvPr/>
        </p:nvSpPr>
        <p:spPr>
          <a:xfrm>
            <a:off x="5394960" y="1417320"/>
            <a:ext cx="3291840" cy="502920"/>
          </a:xfrm>
          <a:prstGeom prst="rect">
            <a:avLst/>
          </a:prstGeom>
          <a:solidFill>
            <a:srgbClr val="FFFFFF"/>
          </a:solidFill>
          <a:ln/>
        </p:spPr>
      </p:sp>
      <p:sp>
        <p:nvSpPr>
          <p:cNvPr id="16" name="Text 14"/>
          <p:cNvSpPr/>
          <p:nvPr/>
        </p:nvSpPr>
        <p:spPr>
          <a:xfrm>
            <a:off x="5486400" y="1527048"/>
            <a:ext cx="310896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No temporal model</a:t>
            </a:r>
            <a:endParaRPr lang="en-US" sz="1300" dirty="0"/>
          </a:p>
        </p:txBody>
      </p:sp>
      <p:sp>
        <p:nvSpPr>
          <p:cNvPr id="17" name="Shape 15"/>
          <p:cNvSpPr/>
          <p:nvPr/>
        </p:nvSpPr>
        <p:spPr>
          <a:xfrm>
            <a:off x="457200" y="1920240"/>
            <a:ext cx="2926080" cy="502920"/>
          </a:xfrm>
          <a:prstGeom prst="rect">
            <a:avLst/>
          </a:prstGeom>
          <a:solidFill>
            <a:srgbClr val="F5F5F0"/>
          </a:solidFill>
          <a:ln/>
        </p:spPr>
      </p:sp>
      <p:sp>
        <p:nvSpPr>
          <p:cNvPr id="18" name="Text 16"/>
          <p:cNvSpPr/>
          <p:nvPr/>
        </p:nvSpPr>
        <p:spPr>
          <a:xfrm>
            <a:off x="548640" y="2029968"/>
            <a:ext cx="2743200" cy="32004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CNN + BiLSTM</a:t>
            </a:r>
            <a:endParaRPr lang="en-US" sz="1300" dirty="0"/>
          </a:p>
        </p:txBody>
      </p:sp>
      <p:sp>
        <p:nvSpPr>
          <p:cNvPr id="19" name="Shape 17"/>
          <p:cNvSpPr/>
          <p:nvPr/>
        </p:nvSpPr>
        <p:spPr>
          <a:xfrm>
            <a:off x="3383280" y="1920240"/>
            <a:ext cx="2011680" cy="502920"/>
          </a:xfrm>
          <a:prstGeom prst="rect">
            <a:avLst/>
          </a:prstGeom>
          <a:solidFill>
            <a:srgbClr val="F5F5F0"/>
          </a:solidFill>
          <a:ln/>
        </p:spPr>
      </p:sp>
      <p:sp>
        <p:nvSpPr>
          <p:cNvPr id="20" name="Text 18"/>
          <p:cNvSpPr/>
          <p:nvPr/>
        </p:nvSpPr>
        <p:spPr>
          <a:xfrm>
            <a:off x="3474720" y="2029968"/>
            <a:ext cx="182880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___</a:t>
            </a:r>
            <a:endParaRPr lang="en-US" sz="1300" dirty="0"/>
          </a:p>
        </p:txBody>
      </p:sp>
      <p:sp>
        <p:nvSpPr>
          <p:cNvPr id="21" name="Shape 19"/>
          <p:cNvSpPr/>
          <p:nvPr/>
        </p:nvSpPr>
        <p:spPr>
          <a:xfrm>
            <a:off x="5394960" y="1920240"/>
            <a:ext cx="3291840" cy="502920"/>
          </a:xfrm>
          <a:prstGeom prst="rect">
            <a:avLst/>
          </a:prstGeom>
          <a:solidFill>
            <a:srgbClr val="F5F5F0"/>
          </a:solidFill>
          <a:ln/>
        </p:spPr>
      </p:sp>
      <p:sp>
        <p:nvSpPr>
          <p:cNvPr id="22" name="Text 20"/>
          <p:cNvSpPr/>
          <p:nvPr/>
        </p:nvSpPr>
        <p:spPr>
          <a:xfrm>
            <a:off x="5486400" y="2029968"/>
            <a:ext cx="310896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Paper-style backbone</a:t>
            </a:r>
            <a:endParaRPr lang="en-US" sz="1300" dirty="0"/>
          </a:p>
        </p:txBody>
      </p:sp>
      <p:sp>
        <p:nvSpPr>
          <p:cNvPr id="23" name="Shape 21"/>
          <p:cNvSpPr/>
          <p:nvPr/>
        </p:nvSpPr>
        <p:spPr>
          <a:xfrm>
            <a:off x="457200" y="2423160"/>
            <a:ext cx="2926080" cy="502920"/>
          </a:xfrm>
          <a:prstGeom prst="rect">
            <a:avLst/>
          </a:prstGeom>
          <a:solidFill>
            <a:srgbClr val="FFFFFF"/>
          </a:solidFill>
          <a:ln/>
        </p:spPr>
      </p:sp>
      <p:sp>
        <p:nvSpPr>
          <p:cNvPr id="24" name="Text 22"/>
          <p:cNvSpPr/>
          <p:nvPr/>
        </p:nvSpPr>
        <p:spPr>
          <a:xfrm>
            <a:off x="548640" y="2532888"/>
            <a:ext cx="2743200" cy="32004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CNN + BiLSTM + Attn</a:t>
            </a:r>
            <a:endParaRPr lang="en-US" sz="1300" dirty="0"/>
          </a:p>
        </p:txBody>
      </p:sp>
      <p:sp>
        <p:nvSpPr>
          <p:cNvPr id="25" name="Shape 23"/>
          <p:cNvSpPr/>
          <p:nvPr/>
        </p:nvSpPr>
        <p:spPr>
          <a:xfrm>
            <a:off x="3383280" y="2423160"/>
            <a:ext cx="2011680" cy="502920"/>
          </a:xfrm>
          <a:prstGeom prst="rect">
            <a:avLst/>
          </a:prstGeom>
          <a:solidFill>
            <a:srgbClr val="FFFFFF"/>
          </a:solidFill>
          <a:ln/>
        </p:spPr>
      </p:sp>
      <p:sp>
        <p:nvSpPr>
          <p:cNvPr id="26" name="Text 24"/>
          <p:cNvSpPr/>
          <p:nvPr/>
        </p:nvSpPr>
        <p:spPr>
          <a:xfrm>
            <a:off x="3474720" y="2532888"/>
            <a:ext cx="182880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___</a:t>
            </a:r>
            <a:endParaRPr lang="en-US" sz="1300" dirty="0"/>
          </a:p>
        </p:txBody>
      </p:sp>
      <p:sp>
        <p:nvSpPr>
          <p:cNvPr id="27" name="Shape 25"/>
          <p:cNvSpPr/>
          <p:nvPr/>
        </p:nvSpPr>
        <p:spPr>
          <a:xfrm>
            <a:off x="5394960" y="2423160"/>
            <a:ext cx="3291840" cy="502920"/>
          </a:xfrm>
          <a:prstGeom prst="rect">
            <a:avLst/>
          </a:prstGeom>
          <a:solidFill>
            <a:srgbClr val="FFFFFF"/>
          </a:solidFill>
          <a:ln/>
        </p:spPr>
      </p:sp>
      <p:sp>
        <p:nvSpPr>
          <p:cNvPr id="28" name="Text 26"/>
          <p:cNvSpPr/>
          <p:nvPr/>
        </p:nvSpPr>
        <p:spPr>
          <a:xfrm>
            <a:off x="5486400" y="2532888"/>
            <a:ext cx="310896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Our temporal attention</a:t>
            </a:r>
            <a:endParaRPr lang="en-US" sz="1300" dirty="0"/>
          </a:p>
        </p:txBody>
      </p:sp>
      <p:sp>
        <p:nvSpPr>
          <p:cNvPr id="29" name="Shape 27"/>
          <p:cNvSpPr/>
          <p:nvPr/>
        </p:nvSpPr>
        <p:spPr>
          <a:xfrm>
            <a:off x="457200" y="2926080"/>
            <a:ext cx="2926080" cy="502920"/>
          </a:xfrm>
          <a:prstGeom prst="rect">
            <a:avLst/>
          </a:prstGeom>
          <a:solidFill>
            <a:srgbClr val="F5F5F0"/>
          </a:solidFill>
          <a:ln/>
        </p:spPr>
      </p:sp>
      <p:sp>
        <p:nvSpPr>
          <p:cNvPr id="30" name="Text 28"/>
          <p:cNvSpPr/>
          <p:nvPr/>
        </p:nvSpPr>
        <p:spPr>
          <a:xfrm>
            <a:off x="548640" y="3035808"/>
            <a:ext cx="2743200" cy="32004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Multi-task</a:t>
            </a:r>
            <a:endParaRPr lang="en-US" sz="1300" dirty="0"/>
          </a:p>
        </p:txBody>
      </p:sp>
      <p:sp>
        <p:nvSpPr>
          <p:cNvPr id="31" name="Shape 29"/>
          <p:cNvSpPr/>
          <p:nvPr/>
        </p:nvSpPr>
        <p:spPr>
          <a:xfrm>
            <a:off x="3383280" y="2926080"/>
            <a:ext cx="2011680" cy="502920"/>
          </a:xfrm>
          <a:prstGeom prst="rect">
            <a:avLst/>
          </a:prstGeom>
          <a:solidFill>
            <a:srgbClr val="F5F5F0"/>
          </a:solidFill>
          <a:ln/>
        </p:spPr>
      </p:sp>
      <p:sp>
        <p:nvSpPr>
          <p:cNvPr id="32" name="Text 30"/>
          <p:cNvSpPr/>
          <p:nvPr/>
        </p:nvSpPr>
        <p:spPr>
          <a:xfrm>
            <a:off x="3474720" y="3035808"/>
            <a:ext cx="182880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___</a:t>
            </a:r>
            <a:endParaRPr lang="en-US" sz="1300" dirty="0"/>
          </a:p>
        </p:txBody>
      </p:sp>
      <p:sp>
        <p:nvSpPr>
          <p:cNvPr id="33" name="Shape 31"/>
          <p:cNvSpPr/>
          <p:nvPr/>
        </p:nvSpPr>
        <p:spPr>
          <a:xfrm>
            <a:off x="5394960" y="2926080"/>
            <a:ext cx="3291840" cy="502920"/>
          </a:xfrm>
          <a:prstGeom prst="rect">
            <a:avLst/>
          </a:prstGeom>
          <a:solidFill>
            <a:srgbClr val="F5F5F0"/>
          </a:solidFill>
          <a:ln/>
        </p:spPr>
      </p:sp>
      <p:sp>
        <p:nvSpPr>
          <p:cNvPr id="34" name="Text 32"/>
          <p:cNvSpPr/>
          <p:nvPr/>
        </p:nvSpPr>
        <p:spPr>
          <a:xfrm>
            <a:off x="5486400" y="3035808"/>
            <a:ext cx="310896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GDI + severity bin</a:t>
            </a:r>
            <a:endParaRPr lang="en-US" sz="1300" dirty="0"/>
          </a:p>
        </p:txBody>
      </p:sp>
      <p:sp>
        <p:nvSpPr>
          <p:cNvPr id="35" name="Shape 33"/>
          <p:cNvSpPr/>
          <p:nvPr/>
        </p:nvSpPr>
        <p:spPr>
          <a:xfrm>
            <a:off x="457200" y="3429000"/>
            <a:ext cx="2926080" cy="502920"/>
          </a:xfrm>
          <a:prstGeom prst="rect">
            <a:avLst/>
          </a:prstGeom>
          <a:solidFill>
            <a:srgbClr val="FFFFFF"/>
          </a:solidFill>
          <a:ln/>
        </p:spPr>
      </p:sp>
      <p:sp>
        <p:nvSpPr>
          <p:cNvPr id="36" name="Text 34"/>
          <p:cNvSpPr/>
          <p:nvPr/>
        </p:nvSpPr>
        <p:spPr>
          <a:xfrm>
            <a:off x="548640" y="3538728"/>
            <a:ext cx="2743200" cy="32004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Paper 31 (reference)</a:t>
            </a:r>
            <a:endParaRPr lang="en-US" sz="1300" dirty="0"/>
          </a:p>
        </p:txBody>
      </p:sp>
      <p:sp>
        <p:nvSpPr>
          <p:cNvPr id="37" name="Shape 35"/>
          <p:cNvSpPr/>
          <p:nvPr/>
        </p:nvSpPr>
        <p:spPr>
          <a:xfrm>
            <a:off x="3383280" y="3429000"/>
            <a:ext cx="2011680" cy="502920"/>
          </a:xfrm>
          <a:prstGeom prst="rect">
            <a:avLst/>
          </a:prstGeom>
          <a:solidFill>
            <a:srgbClr val="FFFFFF"/>
          </a:solidFill>
          <a:ln/>
        </p:spPr>
      </p:sp>
      <p:sp>
        <p:nvSpPr>
          <p:cNvPr id="38" name="Text 36"/>
          <p:cNvSpPr/>
          <p:nvPr/>
        </p:nvSpPr>
        <p:spPr>
          <a:xfrm>
            <a:off x="3474720" y="3538728"/>
            <a:ext cx="182880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~4.4</a:t>
            </a:r>
            <a:endParaRPr lang="en-US" sz="1300" dirty="0"/>
          </a:p>
        </p:txBody>
      </p:sp>
      <p:sp>
        <p:nvSpPr>
          <p:cNvPr id="39" name="Shape 37"/>
          <p:cNvSpPr/>
          <p:nvPr/>
        </p:nvSpPr>
        <p:spPr>
          <a:xfrm>
            <a:off x="5394960" y="3429000"/>
            <a:ext cx="3291840" cy="502920"/>
          </a:xfrm>
          <a:prstGeom prst="rect">
            <a:avLst/>
          </a:prstGeom>
          <a:solidFill>
            <a:srgbClr val="FFFFFF"/>
          </a:solidFill>
          <a:ln/>
        </p:spPr>
      </p:sp>
      <p:sp>
        <p:nvSpPr>
          <p:cNvPr id="40" name="Text 38"/>
          <p:cNvSpPr/>
          <p:nvPr/>
        </p:nvSpPr>
        <p:spPr>
          <a:xfrm>
            <a:off x="5486400" y="3538728"/>
            <a:ext cx="310896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Their data/split; not identical setup</a:t>
            </a:r>
            <a:endParaRPr lang="en-US" sz="1300" dirty="0"/>
          </a:p>
        </p:txBody>
      </p:sp>
      <p:sp>
        <p:nvSpPr>
          <p:cNvPr id="41" name="Text 39"/>
          <p:cNvSpPr/>
          <p:nvPr/>
        </p:nvSpPr>
        <p:spPr>
          <a:xfrm>
            <a:off x="457200" y="4114800"/>
            <a:ext cx="8229600" cy="3200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Also show: scatter_*.png, curves_*.png, residuals_*.png from outputs/figures/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Improvements over Paper 31</a:t>
            </a:r>
            <a:endParaRPr lang="en-US" sz="2000" dirty="0"/>
          </a:p>
        </p:txBody>
      </p:sp>
      <p:sp>
        <p:nvSpPr>
          <p:cNvPr id="4" name="Shape 2"/>
          <p:cNvSpPr/>
          <p:nvPr/>
        </p:nvSpPr>
        <p:spPr>
          <a:xfrm>
            <a:off x="320040" y="685800"/>
            <a:ext cx="4160520" cy="3657600"/>
          </a:xfrm>
          <a:prstGeom prst="roundRect">
            <a:avLst>
              <a:gd name="adj" fmla="val 1500"/>
            </a:avLst>
          </a:prstGeom>
          <a:solidFill>
            <a:srgbClr val="ECFDF5"/>
          </a:solidFill>
          <a:ln/>
        </p:spPr>
      </p:sp>
      <p:sp>
        <p:nvSpPr>
          <p:cNvPr id="5" name="Text 3"/>
          <p:cNvSpPr/>
          <p:nvPr/>
        </p:nvSpPr>
        <p:spPr>
          <a:xfrm>
            <a:off x="457200" y="868680"/>
            <a:ext cx="3840480" cy="320040"/>
          </a:xfrm>
          <a:prstGeom prst="rect">
            <a:avLst/>
          </a:prstGeom>
          <a:noFill/>
          <a:ln/>
        </p:spPr>
        <p:txBody>
          <a:bodyPr wrap="square" rtlCol="0" anchor="ctr"/>
          <a:lstStyle/>
          <a:p>
            <a:pPr indent="0" marL="0">
              <a:buNone/>
            </a:pPr>
            <a:r>
              <a:rPr lang="en-US" sz="1500" b="1" dirty="0">
                <a:solidFill>
                  <a:srgbClr val="1D7A4E"/>
                </a:solidFill>
                <a:latin typeface="Century Gothic" pitchFamily="34" charset="0"/>
                <a:ea typeface="Century Gothic" pitchFamily="34" charset="-122"/>
                <a:cs typeface="Century Gothic" pitchFamily="34" charset="-120"/>
              </a:rPr>
              <a:t>Kept from the paper</a:t>
            </a:r>
            <a:endParaRPr lang="en-US" sz="1500" dirty="0"/>
          </a:p>
        </p:txBody>
      </p:sp>
      <p:sp>
        <p:nvSpPr>
          <p:cNvPr id="6" name="Text 4"/>
          <p:cNvSpPr/>
          <p:nvPr/>
        </p:nvSpPr>
        <p:spPr>
          <a:xfrm>
            <a:off x="457200" y="1325880"/>
            <a:ext cx="3840480" cy="28346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 DensePose IUV as the pose representation</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CNN spatial encoder per frame</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LSTM for temporal modelling</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Continuous GDI regression target</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RMSE as the primary metric</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Short fixed-length frame windows</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CS229DP path / label layout</a:t>
            </a:r>
            <a:endParaRPr lang="en-US" sz="1300" dirty="0"/>
          </a:p>
        </p:txBody>
      </p:sp>
      <p:sp>
        <p:nvSpPr>
          <p:cNvPr id="7" name="Shape 5"/>
          <p:cNvSpPr/>
          <p:nvPr/>
        </p:nvSpPr>
        <p:spPr>
          <a:xfrm>
            <a:off x="4709160" y="685800"/>
            <a:ext cx="4160520" cy="3657600"/>
          </a:xfrm>
          <a:prstGeom prst="roundRect">
            <a:avLst>
              <a:gd name="adj" fmla="val 1500"/>
            </a:avLst>
          </a:prstGeom>
          <a:solidFill>
            <a:srgbClr val="FEF3C7"/>
          </a:solidFill>
          <a:ln/>
        </p:spPr>
      </p:sp>
      <p:sp>
        <p:nvSpPr>
          <p:cNvPr id="8" name="Text 6"/>
          <p:cNvSpPr/>
          <p:nvPr/>
        </p:nvSpPr>
        <p:spPr>
          <a:xfrm>
            <a:off x="4846320" y="868680"/>
            <a:ext cx="3840480" cy="320040"/>
          </a:xfrm>
          <a:prstGeom prst="rect">
            <a:avLst/>
          </a:prstGeom>
          <a:noFill/>
          <a:ln/>
        </p:spPr>
        <p:txBody>
          <a:bodyPr wrap="square" rtlCol="0" anchor="ctr"/>
          <a:lstStyle/>
          <a:p>
            <a:pPr indent="0" marL="0">
              <a:buNone/>
            </a:pPr>
            <a:r>
              <a:rPr lang="en-US" sz="1500" b="1" dirty="0">
                <a:solidFill>
                  <a:srgbClr val="B45309"/>
                </a:solidFill>
                <a:latin typeface="Century Gothic" pitchFamily="34" charset="0"/>
                <a:ea typeface="Century Gothic" pitchFamily="34" charset="-122"/>
                <a:cs typeface="Century Gothic" pitchFamily="34" charset="-120"/>
              </a:rPr>
              <a:t>What we add</a:t>
            </a:r>
            <a:endParaRPr lang="en-US" sz="1500" dirty="0"/>
          </a:p>
        </p:txBody>
      </p:sp>
      <p:sp>
        <p:nvSpPr>
          <p:cNvPr id="9" name="Text 7"/>
          <p:cNvSpPr/>
          <p:nvPr/>
        </p:nvSpPr>
        <p:spPr>
          <a:xfrm>
            <a:off x="4846320" y="1325880"/>
            <a:ext cx="3840480" cy="28346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 Temporal attention over LSTM states</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Multi-task severity classification head</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Strict patient-disjoint splits</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Bidirectional LSTM + BatchNorm</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Linear / Ridge baselines</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Early stopping &amp; modern Adam setup</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 Full reproducible PyTorch package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Limitations &amp; honesty</a:t>
            </a:r>
            <a:endParaRPr lang="en-US" sz="2000" dirty="0"/>
          </a:p>
        </p:txBody>
      </p:sp>
      <p:sp>
        <p:nvSpPr>
          <p:cNvPr id="4" name="Shape 2"/>
          <p:cNvSpPr/>
          <p:nvPr/>
        </p:nvSpPr>
        <p:spPr>
          <a:xfrm>
            <a:off x="365760" y="685800"/>
            <a:ext cx="8412480" cy="822960"/>
          </a:xfrm>
          <a:prstGeom prst="roundRect">
            <a:avLst>
              <a:gd name="adj" fmla="val 5556"/>
            </a:avLst>
          </a:prstGeom>
          <a:solidFill>
            <a:srgbClr val="FFFFFF"/>
          </a:solidFill>
          <a:ln w="12700">
            <a:solidFill>
              <a:srgbClr val="E8E4DD"/>
            </a:solidFill>
            <a:prstDash val="solid"/>
          </a:ln>
        </p:spPr>
      </p:sp>
      <p:sp>
        <p:nvSpPr>
          <p:cNvPr id="5" name="Text 3"/>
          <p:cNvSpPr/>
          <p:nvPr/>
        </p:nvSpPr>
        <p:spPr>
          <a:xfrm>
            <a:off x="548640" y="795528"/>
            <a:ext cx="804672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Image availability</a:t>
            </a:r>
            <a:endParaRPr lang="en-US" sz="1400" dirty="0"/>
          </a:p>
        </p:txBody>
      </p:sp>
      <p:sp>
        <p:nvSpPr>
          <p:cNvPr id="6" name="Text 4"/>
          <p:cNvSpPr/>
          <p:nvPr/>
        </p:nvSpPr>
        <p:spPr>
          <a:xfrm>
            <a:off x="548640" y="109728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Training only works if data.zip IUV PNGs are present and paths resolve. CSVs alone are not enough.</a:t>
            </a:r>
            <a:endParaRPr lang="en-US" sz="1300" dirty="0"/>
          </a:p>
        </p:txBody>
      </p:sp>
      <p:sp>
        <p:nvSpPr>
          <p:cNvPr id="7" name="Shape 5"/>
          <p:cNvSpPr/>
          <p:nvPr/>
        </p:nvSpPr>
        <p:spPr>
          <a:xfrm>
            <a:off x="365760" y="1600200"/>
            <a:ext cx="8412480" cy="822960"/>
          </a:xfrm>
          <a:prstGeom prst="roundRect">
            <a:avLst>
              <a:gd name="adj" fmla="val 5556"/>
            </a:avLst>
          </a:prstGeom>
          <a:solidFill>
            <a:srgbClr val="FFFFFF"/>
          </a:solidFill>
          <a:ln w="12700">
            <a:solidFill>
              <a:srgbClr val="E8E4DD"/>
            </a:solidFill>
            <a:prstDash val="solid"/>
          </a:ln>
        </p:spPr>
      </p:sp>
      <p:sp>
        <p:nvSpPr>
          <p:cNvPr id="8" name="Text 6"/>
          <p:cNvSpPr/>
          <p:nvPr/>
        </p:nvSpPr>
        <p:spPr>
          <a:xfrm>
            <a:off x="548640" y="1709928"/>
            <a:ext cx="804672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Not identical to paper run</a:t>
            </a:r>
            <a:endParaRPr lang="en-US" sz="1400" dirty="0"/>
          </a:p>
        </p:txBody>
      </p:sp>
      <p:sp>
        <p:nvSpPr>
          <p:cNvPr id="9" name="Text 7"/>
          <p:cNvSpPr/>
          <p:nvPr/>
        </p:nvSpPr>
        <p:spPr>
          <a:xfrm>
            <a:off x="548640" y="201168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We may use a subset, different resize, and patient-disjoint splits — RMSE is not a one-to-one bake-off.</a:t>
            </a:r>
            <a:endParaRPr lang="en-US" sz="1300" dirty="0"/>
          </a:p>
        </p:txBody>
      </p:sp>
      <p:sp>
        <p:nvSpPr>
          <p:cNvPr id="10" name="Shape 8"/>
          <p:cNvSpPr/>
          <p:nvPr/>
        </p:nvSpPr>
        <p:spPr>
          <a:xfrm>
            <a:off x="365760" y="2514600"/>
            <a:ext cx="8412480" cy="822960"/>
          </a:xfrm>
          <a:prstGeom prst="roundRect">
            <a:avLst>
              <a:gd name="adj" fmla="val 5556"/>
            </a:avLst>
          </a:prstGeom>
          <a:solidFill>
            <a:srgbClr val="FFFFFF"/>
          </a:solidFill>
          <a:ln w="12700">
            <a:solidFill>
              <a:srgbClr val="E8E4DD"/>
            </a:solidFill>
            <a:prstDash val="solid"/>
          </a:ln>
        </p:spPr>
      </p:sp>
      <p:sp>
        <p:nvSpPr>
          <p:cNvPr id="11" name="Text 9"/>
          <p:cNvSpPr/>
          <p:nvPr/>
        </p:nvSpPr>
        <p:spPr>
          <a:xfrm>
            <a:off x="548640" y="2624328"/>
            <a:ext cx="804672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No raw hospital video</a:t>
            </a:r>
            <a:endParaRPr lang="en-US" sz="1400" dirty="0"/>
          </a:p>
        </p:txBody>
      </p:sp>
      <p:sp>
        <p:nvSpPr>
          <p:cNvPr id="12" name="Text 10"/>
          <p:cNvSpPr/>
          <p:nvPr/>
        </p:nvSpPr>
        <p:spPr>
          <a:xfrm>
            <a:off x="548640" y="292608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We cannot re-run DensePose from scratch on Gillette RGB; we rely on released maps.</a:t>
            </a:r>
            <a:endParaRPr lang="en-US" sz="1300" dirty="0"/>
          </a:p>
        </p:txBody>
      </p:sp>
      <p:sp>
        <p:nvSpPr>
          <p:cNvPr id="13" name="Shape 11"/>
          <p:cNvSpPr/>
          <p:nvPr/>
        </p:nvSpPr>
        <p:spPr>
          <a:xfrm>
            <a:off x="365760" y="3429000"/>
            <a:ext cx="8412480" cy="822960"/>
          </a:xfrm>
          <a:prstGeom prst="roundRect">
            <a:avLst>
              <a:gd name="adj" fmla="val 5556"/>
            </a:avLst>
          </a:prstGeom>
          <a:solidFill>
            <a:srgbClr val="FFFFFF"/>
          </a:solidFill>
          <a:ln w="12700">
            <a:solidFill>
              <a:srgbClr val="E8E4DD"/>
            </a:solidFill>
            <a:prstDash val="solid"/>
          </a:ln>
        </p:spPr>
      </p:sp>
      <p:sp>
        <p:nvSpPr>
          <p:cNvPr id="14" name="Text 12"/>
          <p:cNvSpPr/>
          <p:nvPr/>
        </p:nvSpPr>
        <p:spPr>
          <a:xfrm>
            <a:off x="548640" y="3538728"/>
            <a:ext cx="8046720" cy="256032"/>
          </a:xfrm>
          <a:prstGeom prst="rect">
            <a:avLst/>
          </a:prstGeom>
          <a:noFill/>
          <a:ln/>
        </p:spPr>
        <p:txBody>
          <a:bodyPr wrap="square" rtlCol="0" anchor="ctr"/>
          <a:lstStyle/>
          <a:p>
            <a:pPr indent="0" marL="0">
              <a:buNone/>
            </a:pPr>
            <a:r>
              <a:rPr lang="en-US" sz="1400" b="1" dirty="0">
                <a:solidFill>
                  <a:srgbClr val="1B2A4A"/>
                </a:solidFill>
                <a:latin typeface="Century Gothic" pitchFamily="34" charset="0"/>
                <a:ea typeface="Century Gothic" pitchFamily="34" charset="-122"/>
                <a:cs typeface="Century Gothic" pitchFamily="34" charset="-120"/>
              </a:rPr>
              <a:t>Clinical deployment</a:t>
            </a:r>
            <a:endParaRPr lang="en-US" sz="1400" dirty="0"/>
          </a:p>
        </p:txBody>
      </p:sp>
      <p:sp>
        <p:nvSpPr>
          <p:cNvPr id="15" name="Text 13"/>
          <p:cNvSpPr/>
          <p:nvPr/>
        </p:nvSpPr>
        <p:spPr>
          <a:xfrm>
            <a:off x="548640" y="3840480"/>
            <a:ext cx="804672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GDI prediction from vision still needs prospective validation, calibration, and ethics review.</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CONCLUSION</a:t>
            </a:r>
            <a:endParaRPr lang="en-US" sz="2000" dirty="0"/>
          </a:p>
        </p:txBody>
      </p:sp>
      <p:sp>
        <p:nvSpPr>
          <p:cNvPr id="4" name="Shape 2"/>
          <p:cNvSpPr/>
          <p:nvPr/>
        </p:nvSpPr>
        <p:spPr>
          <a:xfrm>
            <a:off x="457200" y="868680"/>
            <a:ext cx="411480" cy="411480"/>
          </a:xfrm>
          <a:prstGeom prst="ellipse">
            <a:avLst/>
          </a:prstGeom>
          <a:solidFill>
            <a:srgbClr val="1B2A4A"/>
          </a:solidFill>
          <a:ln/>
        </p:spPr>
      </p:sp>
      <p:sp>
        <p:nvSpPr>
          <p:cNvPr id="5" name="Text 3"/>
          <p:cNvSpPr/>
          <p:nvPr/>
        </p:nvSpPr>
        <p:spPr>
          <a:xfrm>
            <a:off x="457200" y="914400"/>
            <a:ext cx="411480" cy="320040"/>
          </a:xfrm>
          <a:prstGeom prst="rect">
            <a:avLst/>
          </a:prstGeom>
          <a:noFill/>
          <a:ln/>
        </p:spPr>
        <p:txBody>
          <a:bodyPr wrap="square" rtlCol="0" anchor="ctr"/>
          <a:lstStyle/>
          <a:p>
            <a:pPr algn="ctr" indent="0" marL="0">
              <a:buNone/>
            </a:pPr>
            <a:r>
              <a:rPr lang="en-US" sz="1400" b="1" dirty="0">
                <a:solidFill>
                  <a:srgbClr val="D4A843"/>
                </a:solidFill>
                <a:latin typeface="Century Gothic" pitchFamily="34" charset="0"/>
                <a:ea typeface="Century Gothic" pitchFamily="34" charset="-122"/>
                <a:cs typeface="Century Gothic" pitchFamily="34" charset="-120"/>
              </a:rPr>
              <a:t>1</a:t>
            </a:r>
            <a:endParaRPr lang="en-US" sz="1400" dirty="0"/>
          </a:p>
        </p:txBody>
      </p:sp>
      <p:sp>
        <p:nvSpPr>
          <p:cNvPr id="6" name="Text 4"/>
          <p:cNvSpPr/>
          <p:nvPr/>
        </p:nvSpPr>
        <p:spPr>
          <a:xfrm>
            <a:off x="1051560" y="777240"/>
            <a:ext cx="7589520" cy="685800"/>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We re-implement GDI prediction from DensePose IUV using the public CS229DP release.</a:t>
            </a:r>
            <a:endParaRPr lang="en-US" sz="1500" dirty="0"/>
          </a:p>
        </p:txBody>
      </p:sp>
      <p:sp>
        <p:nvSpPr>
          <p:cNvPr id="7" name="Shape 5"/>
          <p:cNvSpPr/>
          <p:nvPr/>
        </p:nvSpPr>
        <p:spPr>
          <a:xfrm>
            <a:off x="457200" y="1737360"/>
            <a:ext cx="411480" cy="411480"/>
          </a:xfrm>
          <a:prstGeom prst="ellipse">
            <a:avLst/>
          </a:prstGeom>
          <a:solidFill>
            <a:srgbClr val="1B2A4A"/>
          </a:solidFill>
          <a:ln/>
        </p:spPr>
      </p:sp>
      <p:sp>
        <p:nvSpPr>
          <p:cNvPr id="8" name="Text 6"/>
          <p:cNvSpPr/>
          <p:nvPr/>
        </p:nvSpPr>
        <p:spPr>
          <a:xfrm>
            <a:off x="457200" y="1783080"/>
            <a:ext cx="411480" cy="320040"/>
          </a:xfrm>
          <a:prstGeom prst="rect">
            <a:avLst/>
          </a:prstGeom>
          <a:noFill/>
          <a:ln/>
        </p:spPr>
        <p:txBody>
          <a:bodyPr wrap="square" rtlCol="0" anchor="ctr"/>
          <a:lstStyle/>
          <a:p>
            <a:pPr algn="ctr" indent="0" marL="0">
              <a:buNone/>
            </a:pPr>
            <a:r>
              <a:rPr lang="en-US" sz="1400" b="1" dirty="0">
                <a:solidFill>
                  <a:srgbClr val="D4A843"/>
                </a:solidFill>
                <a:latin typeface="Century Gothic" pitchFamily="34" charset="0"/>
                <a:ea typeface="Century Gothic" pitchFamily="34" charset="-122"/>
                <a:cs typeface="Century Gothic" pitchFamily="34" charset="-120"/>
              </a:rPr>
              <a:t>2</a:t>
            </a:r>
            <a:endParaRPr lang="en-US" sz="1400" dirty="0"/>
          </a:p>
        </p:txBody>
      </p:sp>
      <p:sp>
        <p:nvSpPr>
          <p:cNvPr id="9" name="Text 7"/>
          <p:cNvSpPr/>
          <p:nvPr/>
        </p:nvSpPr>
        <p:spPr>
          <a:xfrm>
            <a:off x="1051560" y="1645920"/>
            <a:ext cx="7589520" cy="685800"/>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The core idea of Paper 31 (CNN + temporal model → GDI) is preserved and made runnable.</a:t>
            </a:r>
            <a:endParaRPr lang="en-US" sz="1500" dirty="0"/>
          </a:p>
        </p:txBody>
      </p:sp>
      <p:sp>
        <p:nvSpPr>
          <p:cNvPr id="10" name="Shape 8"/>
          <p:cNvSpPr/>
          <p:nvPr/>
        </p:nvSpPr>
        <p:spPr>
          <a:xfrm>
            <a:off x="457200" y="2606040"/>
            <a:ext cx="411480" cy="411480"/>
          </a:xfrm>
          <a:prstGeom prst="ellipse">
            <a:avLst/>
          </a:prstGeom>
          <a:solidFill>
            <a:srgbClr val="1B2A4A"/>
          </a:solidFill>
          <a:ln/>
        </p:spPr>
      </p:sp>
      <p:sp>
        <p:nvSpPr>
          <p:cNvPr id="11" name="Text 9"/>
          <p:cNvSpPr/>
          <p:nvPr/>
        </p:nvSpPr>
        <p:spPr>
          <a:xfrm>
            <a:off x="457200" y="2651760"/>
            <a:ext cx="411480" cy="320040"/>
          </a:xfrm>
          <a:prstGeom prst="rect">
            <a:avLst/>
          </a:prstGeom>
          <a:noFill/>
          <a:ln/>
        </p:spPr>
        <p:txBody>
          <a:bodyPr wrap="square" rtlCol="0" anchor="ctr"/>
          <a:lstStyle/>
          <a:p>
            <a:pPr algn="ctr" indent="0" marL="0">
              <a:buNone/>
            </a:pPr>
            <a:r>
              <a:rPr lang="en-US" sz="1400" b="1" dirty="0">
                <a:solidFill>
                  <a:srgbClr val="D4A843"/>
                </a:solidFill>
                <a:latin typeface="Century Gothic" pitchFamily="34" charset="0"/>
                <a:ea typeface="Century Gothic" pitchFamily="34" charset="-122"/>
                <a:cs typeface="Century Gothic" pitchFamily="34" charset="-120"/>
              </a:rPr>
              <a:t>3</a:t>
            </a:r>
            <a:endParaRPr lang="en-US" sz="1400" dirty="0"/>
          </a:p>
        </p:txBody>
      </p:sp>
      <p:sp>
        <p:nvSpPr>
          <p:cNvPr id="12" name="Text 10"/>
          <p:cNvSpPr/>
          <p:nvPr/>
        </p:nvSpPr>
        <p:spPr>
          <a:xfrm>
            <a:off x="1051560" y="2514600"/>
            <a:ext cx="7589520" cy="685800"/>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We improve evaluation (patient-disjoint) and modelling (attention, multi-task, baselines).</a:t>
            </a:r>
            <a:endParaRPr lang="en-US" sz="1500" dirty="0"/>
          </a:p>
        </p:txBody>
      </p:sp>
      <p:sp>
        <p:nvSpPr>
          <p:cNvPr id="13" name="Shape 11"/>
          <p:cNvSpPr/>
          <p:nvPr/>
        </p:nvSpPr>
        <p:spPr>
          <a:xfrm>
            <a:off x="457200" y="3474720"/>
            <a:ext cx="411480" cy="411480"/>
          </a:xfrm>
          <a:prstGeom prst="ellipse">
            <a:avLst/>
          </a:prstGeom>
          <a:solidFill>
            <a:srgbClr val="1B2A4A"/>
          </a:solidFill>
          <a:ln/>
        </p:spPr>
      </p:sp>
      <p:sp>
        <p:nvSpPr>
          <p:cNvPr id="14" name="Text 12"/>
          <p:cNvSpPr/>
          <p:nvPr/>
        </p:nvSpPr>
        <p:spPr>
          <a:xfrm>
            <a:off x="457200" y="3520440"/>
            <a:ext cx="411480" cy="320040"/>
          </a:xfrm>
          <a:prstGeom prst="rect">
            <a:avLst/>
          </a:prstGeom>
          <a:noFill/>
          <a:ln/>
        </p:spPr>
        <p:txBody>
          <a:bodyPr wrap="square" rtlCol="0" anchor="ctr"/>
          <a:lstStyle/>
          <a:p>
            <a:pPr algn="ctr" indent="0" marL="0">
              <a:buNone/>
            </a:pPr>
            <a:r>
              <a:rPr lang="en-US" sz="1400" b="1" dirty="0">
                <a:solidFill>
                  <a:srgbClr val="D4A843"/>
                </a:solidFill>
                <a:latin typeface="Century Gothic" pitchFamily="34" charset="0"/>
                <a:ea typeface="Century Gothic" pitchFamily="34" charset="-122"/>
                <a:cs typeface="Century Gothic" pitchFamily="34" charset="-120"/>
              </a:rPr>
              <a:t>4</a:t>
            </a:r>
            <a:endParaRPr lang="en-US" sz="1400" dirty="0"/>
          </a:p>
        </p:txBody>
      </p:sp>
      <p:sp>
        <p:nvSpPr>
          <p:cNvPr id="15" name="Text 13"/>
          <p:cNvSpPr/>
          <p:nvPr/>
        </p:nvSpPr>
        <p:spPr>
          <a:xfrm>
            <a:off x="1051560" y="3383280"/>
            <a:ext cx="7589520" cy="685800"/>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Next steps: full image set, stronger backbones, uncertainty estimates, and careful clinical framing.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2000" b="1" dirty="0">
                <a:solidFill>
                  <a:srgbClr val="1B2A4A"/>
                </a:solidFill>
                <a:latin typeface="Century Gothic" pitchFamily="34" charset="0"/>
                <a:ea typeface="Century Gothic" pitchFamily="34" charset="-122"/>
                <a:cs typeface="Century Gothic" pitchFamily="34" charset="-120"/>
              </a:rPr>
              <a:t>How to reproduce</a:t>
            </a:r>
            <a:endParaRPr lang="en-US" sz="2000" dirty="0"/>
          </a:p>
        </p:txBody>
      </p:sp>
      <p:sp>
        <p:nvSpPr>
          <p:cNvPr id="4" name="Shape 2"/>
          <p:cNvSpPr/>
          <p:nvPr/>
        </p:nvSpPr>
        <p:spPr>
          <a:xfrm>
            <a:off x="457200" y="640080"/>
            <a:ext cx="8229600" cy="411480"/>
          </a:xfrm>
          <a:prstGeom prst="rect">
            <a:avLst/>
          </a:prstGeom>
          <a:solidFill>
            <a:srgbClr val="F5F5F0"/>
          </a:solidFill>
          <a:ln/>
        </p:spPr>
      </p:sp>
      <p:sp>
        <p:nvSpPr>
          <p:cNvPr id="5" name="Text 3"/>
          <p:cNvSpPr/>
          <p:nvPr/>
        </p:nvSpPr>
        <p:spPr>
          <a:xfrm>
            <a:off x="594360" y="713232"/>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cd gait-gdi-cs229 &amp;&amp; pip install -r requirements.txt</a:t>
            </a:r>
            <a:endParaRPr lang="en-US" sz="1200" dirty="0"/>
          </a:p>
        </p:txBody>
      </p:sp>
      <p:sp>
        <p:nvSpPr>
          <p:cNvPr id="6" name="Shape 4"/>
          <p:cNvSpPr/>
          <p:nvPr/>
        </p:nvSpPr>
        <p:spPr>
          <a:xfrm>
            <a:off x="457200" y="1078992"/>
            <a:ext cx="8229600" cy="411480"/>
          </a:xfrm>
          <a:prstGeom prst="rect">
            <a:avLst/>
          </a:prstGeom>
          <a:solidFill>
            <a:srgbClr val="FFFFFF"/>
          </a:solidFill>
          <a:ln/>
        </p:spPr>
      </p:sp>
      <p:sp>
        <p:nvSpPr>
          <p:cNvPr id="7" name="Text 5"/>
          <p:cNvSpPr/>
          <p:nvPr/>
        </p:nvSpPr>
        <p:spPr>
          <a:xfrm>
            <a:off x="594360" y="1152144"/>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src.setup_data</a:t>
            </a:r>
            <a:endParaRPr lang="en-US" sz="1200" dirty="0"/>
          </a:p>
        </p:txBody>
      </p:sp>
      <p:sp>
        <p:nvSpPr>
          <p:cNvPr id="8" name="Shape 6"/>
          <p:cNvSpPr/>
          <p:nvPr/>
        </p:nvSpPr>
        <p:spPr>
          <a:xfrm>
            <a:off x="457200" y="1517904"/>
            <a:ext cx="8229600" cy="411480"/>
          </a:xfrm>
          <a:prstGeom prst="rect">
            <a:avLst/>
          </a:prstGeom>
          <a:solidFill>
            <a:srgbClr val="F5F5F0"/>
          </a:solidFill>
          <a:ln/>
        </p:spPr>
      </p:sp>
      <p:sp>
        <p:nvSpPr>
          <p:cNvPr id="9" name="Text 7"/>
          <p:cNvSpPr/>
          <p:nvPr/>
        </p:nvSpPr>
        <p:spPr>
          <a:xfrm>
            <a:off x="594360" y="1591056"/>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 Download data.zip from CS229DP; unzip → data/densepose-out/</a:t>
            </a:r>
            <a:endParaRPr lang="en-US" sz="1200" dirty="0"/>
          </a:p>
        </p:txBody>
      </p:sp>
      <p:sp>
        <p:nvSpPr>
          <p:cNvPr id="10" name="Shape 8"/>
          <p:cNvSpPr/>
          <p:nvPr/>
        </p:nvSpPr>
        <p:spPr>
          <a:xfrm>
            <a:off x="457200" y="1956816"/>
            <a:ext cx="8229600" cy="411480"/>
          </a:xfrm>
          <a:prstGeom prst="rect">
            <a:avLst/>
          </a:prstGeom>
          <a:solidFill>
            <a:srgbClr val="FFFFFF"/>
          </a:solidFill>
          <a:ln/>
        </p:spPr>
      </p:sp>
      <p:sp>
        <p:nvSpPr>
          <p:cNvPr id="11" name="Text 9"/>
          <p:cNvSpPr/>
          <p:nvPr/>
        </p:nvSpPr>
        <p:spPr>
          <a:xfrm>
            <a:off x="594360" y="2029968"/>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src.baselines</a:t>
            </a:r>
            <a:endParaRPr lang="en-US" sz="1200" dirty="0"/>
          </a:p>
        </p:txBody>
      </p:sp>
      <p:sp>
        <p:nvSpPr>
          <p:cNvPr id="12" name="Shape 10"/>
          <p:cNvSpPr/>
          <p:nvPr/>
        </p:nvSpPr>
        <p:spPr>
          <a:xfrm>
            <a:off x="457200" y="2395728"/>
            <a:ext cx="8229600" cy="411480"/>
          </a:xfrm>
          <a:prstGeom prst="rect">
            <a:avLst/>
          </a:prstGeom>
          <a:solidFill>
            <a:srgbClr val="F5F5F0"/>
          </a:solidFill>
          <a:ln/>
        </p:spPr>
      </p:sp>
      <p:sp>
        <p:nvSpPr>
          <p:cNvPr id="13" name="Text 11"/>
          <p:cNvSpPr/>
          <p:nvPr/>
        </p:nvSpPr>
        <p:spPr>
          <a:xfrm>
            <a:off x="594360" y="2468880"/>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src.train --model attn --epochs 40</a:t>
            </a:r>
            <a:endParaRPr lang="en-US" sz="1200" dirty="0"/>
          </a:p>
        </p:txBody>
      </p:sp>
      <p:sp>
        <p:nvSpPr>
          <p:cNvPr id="14" name="Shape 12"/>
          <p:cNvSpPr/>
          <p:nvPr/>
        </p:nvSpPr>
        <p:spPr>
          <a:xfrm>
            <a:off x="457200" y="2834640"/>
            <a:ext cx="8229600" cy="411480"/>
          </a:xfrm>
          <a:prstGeom prst="rect">
            <a:avLst/>
          </a:prstGeom>
          <a:solidFill>
            <a:srgbClr val="FFFFFF"/>
          </a:solidFill>
          <a:ln/>
        </p:spPr>
      </p:sp>
      <p:sp>
        <p:nvSpPr>
          <p:cNvPr id="15" name="Text 13"/>
          <p:cNvSpPr/>
          <p:nvPr/>
        </p:nvSpPr>
        <p:spPr>
          <a:xfrm>
            <a:off x="594360" y="2907792"/>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src.train --model multitask --epochs 40</a:t>
            </a:r>
            <a:endParaRPr lang="en-US" sz="1200" dirty="0"/>
          </a:p>
        </p:txBody>
      </p:sp>
      <p:sp>
        <p:nvSpPr>
          <p:cNvPr id="16" name="Shape 14"/>
          <p:cNvSpPr/>
          <p:nvPr/>
        </p:nvSpPr>
        <p:spPr>
          <a:xfrm>
            <a:off x="457200" y="3273552"/>
            <a:ext cx="8229600" cy="411480"/>
          </a:xfrm>
          <a:prstGeom prst="rect">
            <a:avLst/>
          </a:prstGeom>
          <a:solidFill>
            <a:srgbClr val="F5F5F0"/>
          </a:solidFill>
          <a:ln/>
        </p:spPr>
      </p:sp>
      <p:sp>
        <p:nvSpPr>
          <p:cNvPr id="17" name="Text 15"/>
          <p:cNvSpPr/>
          <p:nvPr/>
        </p:nvSpPr>
        <p:spPr>
          <a:xfrm>
            <a:off x="594360" y="3346704"/>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src.evaluate --ckpt attn_best.pt</a:t>
            </a:r>
            <a:endParaRPr lang="en-US" sz="1200" dirty="0"/>
          </a:p>
        </p:txBody>
      </p:sp>
      <p:sp>
        <p:nvSpPr>
          <p:cNvPr id="18" name="Shape 16"/>
          <p:cNvSpPr/>
          <p:nvPr/>
        </p:nvSpPr>
        <p:spPr>
          <a:xfrm>
            <a:off x="457200" y="3712464"/>
            <a:ext cx="8229600" cy="411480"/>
          </a:xfrm>
          <a:prstGeom prst="rect">
            <a:avLst/>
          </a:prstGeom>
          <a:solidFill>
            <a:srgbClr val="FFFFFF"/>
          </a:solidFill>
          <a:ln/>
        </p:spPr>
      </p:sp>
      <p:sp>
        <p:nvSpPr>
          <p:cNvPr id="19" name="Text 17"/>
          <p:cNvSpPr/>
          <p:nvPr/>
        </p:nvSpPr>
        <p:spPr>
          <a:xfrm>
            <a:off x="594360" y="3785616"/>
            <a:ext cx="7955280" cy="274320"/>
          </a:xfrm>
          <a:prstGeom prst="rect">
            <a:avLst/>
          </a:prstGeom>
          <a:noFill/>
          <a:ln/>
        </p:spPr>
        <p:txBody>
          <a:bodyPr wrap="square" rtlCol="0" anchor="ctr"/>
          <a:lstStyle/>
          <a:p>
            <a:pPr indent="0" marL="0">
              <a:buNone/>
            </a:pPr>
            <a:r>
              <a:rPr lang="en-US" sz="1200" dirty="0">
                <a:solidFill>
                  <a:srgbClr val="2C2C2C"/>
                </a:solidFill>
                <a:latin typeface="Consolas" pitchFamily="34" charset="0"/>
                <a:ea typeface="Consolas" pitchFamily="34" charset="-122"/>
                <a:cs typeface="Consolas" pitchFamily="34" charset="-120"/>
              </a:rPr>
              <a:t>python -m src.run_experiments --epochs 40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554480"/>
            <a:ext cx="8229600" cy="640080"/>
          </a:xfrm>
          <a:prstGeom prst="rect">
            <a:avLst/>
          </a:prstGeom>
          <a:noFill/>
          <a:ln/>
        </p:spPr>
        <p:txBody>
          <a:bodyPr wrap="square" rtlCol="0" anchor="ctr"/>
          <a:lstStyle/>
          <a:p>
            <a:pPr algn="ctr" indent="0" marL="0">
              <a:buNone/>
            </a:pPr>
            <a:r>
              <a:rPr lang="en-US" sz="3600" b="1" dirty="0">
                <a:solidFill>
                  <a:srgbClr val="FFFFFF"/>
                </a:solidFill>
                <a:latin typeface="Century Gothic" pitchFamily="34" charset="0"/>
                <a:ea typeface="Century Gothic" pitchFamily="34" charset="-122"/>
                <a:cs typeface="Century Gothic" pitchFamily="34" charset="-120"/>
              </a:rPr>
              <a:t>Questions?</a:t>
            </a:r>
            <a:endParaRPr lang="en-US" sz="3600" dirty="0"/>
          </a:p>
        </p:txBody>
      </p:sp>
      <p:sp>
        <p:nvSpPr>
          <p:cNvPr id="4" name="Text 2"/>
          <p:cNvSpPr/>
          <p:nvPr/>
        </p:nvSpPr>
        <p:spPr>
          <a:xfrm>
            <a:off x="457200" y="2468880"/>
            <a:ext cx="8229600" cy="822960"/>
          </a:xfrm>
          <a:prstGeom prst="rect">
            <a:avLst/>
          </a:prstGeom>
          <a:noFill/>
          <a:ln/>
        </p:spPr>
        <p:txBody>
          <a:bodyPr wrap="square" rtlCol="0" anchor="ctr"/>
          <a:lstStyle/>
          <a:p>
            <a:pPr algn="ctr" indent="0" marL="0">
              <a:buNone/>
            </a:pPr>
            <a:r>
              <a:rPr lang="en-US" sz="1500" dirty="0">
                <a:solidFill>
                  <a:srgbClr val="D4A843"/>
                </a:solidFill>
                <a:latin typeface="Calibri" pitchFamily="34" charset="0"/>
                <a:ea typeface="Calibri" pitchFamily="34" charset="-122"/>
                <a:cs typeface="Calibri" pitchFamily="34" charset="-120"/>
              </a:rPr>
              <a:t>Metric: GDI RMSE (lower is better)</a:t>
            </a:r>
            <a:endParaRPr lang="en-US" sz="1500" dirty="0"/>
          </a:p>
          <a:p>
            <a:pPr algn="ctr" indent="0" marL="0">
              <a:buNone/>
            </a:pPr>
            <a:r>
              <a:rPr lang="en-US" sz="1500" dirty="0">
                <a:solidFill>
                  <a:srgbClr val="D4A843"/>
                </a:solidFill>
                <a:latin typeface="Calibri" pitchFamily="34" charset="0"/>
                <a:ea typeface="Calibri" pitchFamily="34" charset="-122"/>
                <a:cs typeface="Calibri" pitchFamily="34" charset="-120"/>
              </a:rPr>
              <a:t>Data: github.com/agotlin/CS229DP</a:t>
            </a:r>
            <a:endParaRPr lang="en-US" sz="1500" dirty="0"/>
          </a:p>
          <a:p>
            <a:pPr algn="ctr" indent="0" marL="0">
              <a:buNone/>
            </a:pPr>
            <a:r>
              <a:rPr lang="en-US" sz="1500" dirty="0">
                <a:solidFill>
                  <a:srgbClr val="D4A843"/>
                </a:solidFill>
                <a:latin typeface="Calibri" pitchFamily="34" charset="0"/>
                <a:ea typeface="Calibri" pitchFamily="34" charset="-122"/>
                <a:cs typeface="Calibri" pitchFamily="34" charset="-120"/>
              </a:rPr>
              <a:t>Code: gait-gdi-cs229/</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Identification of Gait Abnormalities — GDI from DensePose</dc:title>
  <dc:subject>PptxGenJS Presentation</dc:subject>
  <dc:creator>PptxGenJS</dc:creator>
  <cp:lastModifiedBy>PptxGenJS</cp:lastModifiedBy>
  <cp:revision>1</cp:revision>
  <dcterms:created xsi:type="dcterms:W3CDTF">2026-10-14T03:21:27Z</dcterms:created>
  <dcterms:modified xsi:type="dcterms:W3CDTF">2026-10-14T03:21:27Z</dcterms:modified>
</cp:coreProperties>
</file>